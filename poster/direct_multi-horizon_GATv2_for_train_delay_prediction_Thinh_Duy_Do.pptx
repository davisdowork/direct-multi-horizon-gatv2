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Good afternoon, everyone. My name is Thinh Do, from the Halıcıoğlu Data Science Institute at UC San Diego. My project is Direct Multi-Horizon GATv2 for Train Delay Prediction. In short: instead of forecasting train delays one step at a time, I forecast the next three events at once, and I'll show that this keeps errors from piling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(0:20–0:55) Train delays rarely stay isolated. Here, Train X suffers a primary delay arriving at station B. Because trains share tracks, platforms and headway limits, that delay spreads to Train Y as a knock-on delay, and across a dense network like the New York City subway these delays cascade. And they are expensive: the NYC Comptroller estimated that subway delays cost the city between 170 and 389 million dollars a year in lost work time. Forecasting delays a few events ahead gives operators time to react before they spread.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(0:55–1:40) Graph-based autoregressive models, like the GATv2 model of Nguyen and Li, are good at one important thing: they use the railway topology, how trains and stations are connected, to capture how delays spread. Their weakness is how they forecast. t+1, t+2 and t+3 are the train’s next three events: its next arrival or departure, the one after that, and the one after that. An autoregressive model predicts t+1, feeds that prediction back in to predict t+2, and again for t+3. Only the first step uses real data, so errors accumulate: mean absolute error grows from 2.41 to 3.12 minutes, about 30 percent. So my research question is: can direct multi-horizon decoding keep the benefit of the graph but reduce error at later horizons?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(1:40–2:40) Here is my model, left to right. First, the event graph: every arrival and every departure is a node. Dwell edges link an arrival to its departure at the same stop, run edges link a departure to the train's next stop, and headway edges link consecutive trains at the same stop. That headway edge is how a delay on one train reaches the next. Second, a three-layer GATv2 encoder, whose attention learns which neighbouring events matter most. Third, my key change: one head per horizon, predicting t+1, t+2 and t+3 at the same time, with no prediction ever fed back. Each head works in two stages: first it classifies whether the event will be late. If not, it predicts zero and skips the second stage. If yes, a regressor estimates how many minutes. Finally, the forecasts are blended into one final delay, which the next slide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(2:40–3:10) Here is what the blend means. Every event predicts the next three events of the same train, so look at event E5: it was predicted one step ahead by E4, two steps ahead by E3, and three steps ahead by E2. That gives three forecasts of the same delay. Equation 11 gives each horizon a weight: one over its validation error, normalised so the weights add up to one, so more accurate horizons count a bit more. Equation 12 takes the weighted average of whichever forecasts an event has, to get one final delay. Events at the very start of a trip get fewer forecasts, but every later event gets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(3:10–3:50) This chart is the main result. The dashed orange line is the autoregressive model: its error climbs from 2.41 to 3.12 minutes, about 30 percent growth from t+1 to t+3. The teal line is my model, which stays almost flat, growing only about 4 percent. At t+3 my model's error is 12 percent lower. It also detects delays best: 94.9 percent precision, and almost 4 more recall points than the autoregressive model. To be honest about the trade-off: at t+1 the autoregressive model is slightly better, because it hasn't fed back any guesses yet. The advantage appears at longer horizons, which is exactly where error accumulation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(3:50–4:30) Overall, DMH has the best classification results of all models: 94.9 percent precision, 93.8 percent recall, and 94.4 percent F1. That recall is almost 4 points higher than the autoregressive model. One more honest point: the persistence baseline, which simply assumes the delay stays the same, still wins on raw MAE. Consecutive subway delays rarely jump suddenly, so "no change" is a very strong guess. Where the graph models add value is in detecting delays, which matters for decision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(4:30–4:55) To summarize: direct multi-horizon decoding curbs error accumulation, with MAE growing only 4 percent from t+1 to t+3 versus 30 percent for autoregressive rollout, and it gives the best delay detection of all the models we tested. Next, I plan to tune the horizon length beyond three events and to test on networks with more sudden disruptions, where persistence should struggle and topology should matter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(4:55–5:00) Thank you.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23466"/>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75296"/>
            <a:ext cx="10566400" cy="4069904"/>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2.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slideLayout" Target="../slideLayouts/slideLayout2.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2BB3A8"/>
          </a:solidFill>
          <a:ln/>
        </p:spPr>
      </p:sp>
      <p:sp>
        <p:nvSpPr>
          <p:cNvPr id="3" name="Text 1"/>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2BB3A8"/>
                </a:solidFill>
                <a:latin typeface="IBM Plex Sans" pitchFamily="34" charset="0"/>
                <a:ea typeface="IBM Plex Sans" pitchFamily="34" charset="-122"/>
                <a:cs typeface="IBM Plex Sans" pitchFamily="34" charset="-120"/>
              </a:rPr>
              <a:t>TRAIN DELAY FORECASTING · NYC SUBWAY</a:t>
            </a:r>
            <a:endParaRPr lang="en-US" sz="1400" dirty="0"/>
          </a:p>
        </p:txBody>
      </p:sp>
      <p:sp>
        <p:nvSpPr>
          <p:cNvPr id="4" name="Text 2"/>
          <p:cNvSpPr/>
          <p:nvPr>
            <p:ph type="title"/>
          </p:nvPr>
        </p:nvSpPr>
        <p:spPr>
          <a:xfrm>
            <a:off x="812800" y="2198439"/>
            <a:ext cx="10883392" cy="1518841"/>
          </a:xfrm>
          <a:prstGeom prst="rect">
            <a:avLst/>
          </a:prstGeom>
          <a:noFill/>
          <a:ln/>
        </p:spPr>
        <p:txBody>
          <a:bodyPr wrap="square" lIns="0" tIns="0" rIns="0" bIns="0" rtlCol="0" anchor="t">
            <a:normAutofit/>
          </a:bodyPr>
          <a:lstStyle/>
          <a:p>
            <a:pPr algn="l" indent="0" marL="0">
              <a:lnSpc>
                <a:spcPts val="5880"/>
              </a:lnSpc>
              <a:buNone/>
            </a:pPr>
            <a:r>
              <a:rPr lang="en-US" sz="5600" b="1" i="0" spc="-100" kern="0" dirty="0">
                <a:solidFill>
                  <a:srgbClr val="F4F2EC"/>
                </a:solidFill>
                <a:latin typeface="Space Grotesk" pitchFamily="34" charset="0"/>
                <a:ea typeface="Space Grotesk" pitchFamily="34" charset="-122"/>
                <a:cs typeface="Space Grotesk" pitchFamily="34" charset="-120"/>
              </a:rPr>
              <a:t>Direct Multi-Horizon GATv2 for Train Delay Prediction</a:t>
            </a:r>
            <a:endParaRPr lang="en-US" sz="5600" dirty="0"/>
          </a:p>
        </p:txBody>
      </p:sp>
      <p:sp>
        <p:nvSpPr>
          <p:cNvPr id="5" name="Text 3"/>
          <p:cNvSpPr/>
          <p:nvPr/>
        </p:nvSpPr>
        <p:spPr>
          <a:xfrm>
            <a:off x="812800" y="3945880"/>
            <a:ext cx="10883392"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CC6D6"/>
                </a:solidFill>
                <a:latin typeface="IBM Plex Sans" pitchFamily="34" charset="0"/>
                <a:ea typeface="IBM Plex Sans" pitchFamily="34" charset="-122"/>
                <a:cs typeface="IBM Plex Sans" pitchFamily="34" charset="-120"/>
              </a:rPr>
              <a:t>Predicting the next three train events at once, so errors stop piling up</a:t>
            </a:r>
            <a:endParaRPr lang="en-US" sz="2000" dirty="0"/>
          </a:p>
        </p:txBody>
      </p:sp>
      <p:sp>
        <p:nvSpPr>
          <p:cNvPr id="6" name="Text 4"/>
          <p:cNvSpPr/>
          <p:nvPr/>
        </p:nvSpPr>
        <p:spPr>
          <a:xfrm>
            <a:off x="812800" y="5425480"/>
            <a:ext cx="10883392"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4F2EC"/>
                </a:solidFill>
                <a:latin typeface="IBM Plex Sans" pitchFamily="34" charset="0"/>
                <a:ea typeface="IBM Plex Sans" pitchFamily="34" charset="-122"/>
                <a:cs typeface="IBM Plex Sans" pitchFamily="34" charset="-120"/>
              </a:rPr>
              <a:t>Thinh Duy Do</a:t>
            </a:r>
            <a:endParaRPr lang="en-US" sz="1800" dirty="0"/>
          </a:p>
        </p:txBody>
      </p:sp>
      <p:sp>
        <p:nvSpPr>
          <p:cNvPr id="7" name="Text 5"/>
          <p:cNvSpPr/>
          <p:nvPr/>
        </p:nvSpPr>
        <p:spPr>
          <a:xfrm>
            <a:off x="812800" y="57963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CC6D6"/>
                </a:solidFill>
                <a:latin typeface="IBM Plex Sans" pitchFamily="34" charset="0"/>
                <a:ea typeface="IBM Plex Sans" pitchFamily="34" charset="-122"/>
                <a:cs typeface="IBM Plex Sans" pitchFamily="34" charset="-120"/>
              </a:rPr>
              <a:t>Halıcıoğlu Data Science Institute · University of California San Diego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0F7C7A"/>
                </a:solidFill>
                <a:latin typeface="IBM Plex Sans" pitchFamily="34" charset="0"/>
                <a:ea typeface="IBM Plex Sans" pitchFamily="34" charset="-122"/>
                <a:cs typeface="IBM Plex Sans" pitchFamily="34" charset="-120"/>
              </a:rPr>
              <a:t>01 · MOTIVATION</a:t>
            </a:r>
            <a:endParaRPr lang="en-US" sz="1400" dirty="0"/>
          </a:p>
        </p:txBody>
      </p:sp>
      <p:sp>
        <p:nvSpPr>
          <p:cNvPr id="3" name="Text 1"/>
          <p:cNvSpPr/>
          <p:nvPr>
            <p:ph type="title"/>
          </p:nvPr>
        </p:nvSpPr>
        <p:spPr>
          <a:xfrm>
            <a:off x="812800" y="1315690"/>
            <a:ext cx="4447540" cy="103118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One late train makes others late</a:t>
            </a:r>
            <a:endParaRPr lang="en-US" sz="3600" dirty="0"/>
          </a:p>
        </p:txBody>
      </p:sp>
      <p:sp>
        <p:nvSpPr>
          <p:cNvPr id="4" name="Text 2"/>
          <p:cNvSpPr/>
          <p:nvPr/>
        </p:nvSpPr>
        <p:spPr>
          <a:xfrm>
            <a:off x="812800" y="2575471"/>
            <a:ext cx="4185920" cy="120392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IBM Plex Sans" pitchFamily="34" charset="0"/>
                <a:ea typeface="IBM Plex Sans" pitchFamily="34" charset="-122"/>
                <a:cs typeface="IBM Plex Sans" pitchFamily="34" charset="-120"/>
              </a:rPr>
              <a:t>Trains share tracks, platforms and headway limits. A </a:t>
            </a:r>
            <a:r>
              <a:rPr lang="en-US" sz="1600" b="1" dirty="0">
                <a:solidFill>
                  <a:srgbClr val="4A5568"/>
                </a:solidFill>
                <a:latin typeface="IBM Plex Sans" pitchFamily="34" charset="0"/>
                <a:ea typeface="IBM Plex Sans" pitchFamily="34" charset="-122"/>
                <a:cs typeface="IBM Plex Sans" pitchFamily="34" charset="-120"/>
              </a:rPr>
              <a:t>primary delay</a:t>
            </a:r>
            <a:r>
              <a:rPr lang="en-US" sz="1600" dirty="0">
                <a:solidFill>
                  <a:srgbClr val="4A5568"/>
                </a:solidFill>
                <a:latin typeface="IBM Plex Sans" pitchFamily="34" charset="0"/>
                <a:ea typeface="IBM Plex Sans" pitchFamily="34" charset="-122"/>
                <a:cs typeface="IBM Plex Sans" pitchFamily="34" charset="-120"/>
              </a:rPr>
              <a:t> on one train spreads to the next train as a </a:t>
            </a:r>
            <a:r>
              <a:rPr lang="en-US" sz="1600" b="1" dirty="0">
                <a:solidFill>
                  <a:srgbClr val="4A5568"/>
                </a:solidFill>
                <a:latin typeface="IBM Plex Sans" pitchFamily="34" charset="0"/>
                <a:ea typeface="IBM Plex Sans" pitchFamily="34" charset="-122"/>
                <a:cs typeface="IBM Plex Sans" pitchFamily="34" charset="-120"/>
              </a:rPr>
              <a:t>knock-on delay</a:t>
            </a:r>
            <a:r>
              <a:rPr lang="en-US" sz="1600" dirty="0">
                <a:solidFill>
                  <a:srgbClr val="4A5568"/>
                </a:solidFill>
                <a:latin typeface="IBM Plex Sans" pitchFamily="34" charset="0"/>
                <a:ea typeface="IBM Plex Sans" pitchFamily="34" charset="-122"/>
                <a:cs typeface="IBM Plex Sans" pitchFamily="34" charset="-120"/>
              </a:rPr>
              <a:t>, and can cascade across a dense network.</a:t>
            </a:r>
            <a:endParaRPr lang="en-US" sz="1600" dirty="0"/>
          </a:p>
        </p:txBody>
      </p:sp>
      <p:sp>
        <p:nvSpPr>
          <p:cNvPr id="5" name="Shape 3"/>
          <p:cNvSpPr/>
          <p:nvPr/>
        </p:nvSpPr>
        <p:spPr>
          <a:xfrm>
            <a:off x="812800" y="4007991"/>
            <a:ext cx="4064000" cy="1248321"/>
          </a:xfrm>
          <a:prstGeom prst="rect">
            <a:avLst/>
          </a:prstGeom>
          <a:solidFill>
            <a:srgbClr val="FFFFFF"/>
          </a:solidFill>
          <a:ln/>
        </p:spPr>
      </p:sp>
      <p:sp>
        <p:nvSpPr>
          <p:cNvPr id="6" name="Shape 4"/>
          <p:cNvSpPr/>
          <p:nvPr/>
        </p:nvSpPr>
        <p:spPr>
          <a:xfrm>
            <a:off x="838200" y="4007991"/>
            <a:ext cx="0" cy="1248321"/>
          </a:xfrm>
          <a:prstGeom prst="line">
            <a:avLst/>
          </a:prstGeom>
          <a:noFill/>
          <a:ln w="50800">
            <a:solidFill>
              <a:srgbClr val="D9731A"/>
            </a:solidFill>
            <a:prstDash val="solid"/>
          </a:ln>
        </p:spPr>
      </p:sp>
      <p:sp>
        <p:nvSpPr>
          <p:cNvPr id="7" name="Text 5"/>
          <p:cNvSpPr/>
          <p:nvPr/>
        </p:nvSpPr>
        <p:spPr>
          <a:xfrm>
            <a:off x="1066800" y="4160391"/>
            <a:ext cx="3715004"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B4570C"/>
                </a:solidFill>
                <a:latin typeface="Space Grotesk" pitchFamily="34" charset="0"/>
                <a:ea typeface="Space Grotesk" pitchFamily="34" charset="-122"/>
                <a:cs typeface="Space Grotesk" pitchFamily="34" charset="-120"/>
              </a:rPr>
              <a:t>$170M–$389M</a:t>
            </a:r>
            <a:endParaRPr lang="en-US" sz="3200" dirty="0"/>
          </a:p>
        </p:txBody>
      </p:sp>
      <p:sp>
        <p:nvSpPr>
          <p:cNvPr id="8" name="Text 6"/>
          <p:cNvSpPr/>
          <p:nvPr/>
        </p:nvSpPr>
        <p:spPr>
          <a:xfrm>
            <a:off x="1066800" y="4658221"/>
            <a:ext cx="371500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IBM Plex Sans" pitchFamily="34" charset="0"/>
                <a:ea typeface="IBM Plex Sans" pitchFamily="34" charset="-122"/>
                <a:cs typeface="IBM Plex Sans" pitchFamily="34" charset="-120"/>
              </a:rPr>
              <a:t>estimated yearly cost of NYC subway delays in lost work time (NYC Comptroller, 2017)</a:t>
            </a:r>
            <a:endParaRPr lang="en-US" sz="1300" dirty="0"/>
          </a:p>
        </p:txBody>
      </p:sp>
      <p:sp>
        <p:nvSpPr>
          <p:cNvPr id="9" name="Text 7"/>
          <p:cNvSpPr/>
          <p:nvPr/>
        </p:nvSpPr>
        <p:spPr>
          <a:xfrm>
            <a:off x="5715000" y="19050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Train X</a:t>
            </a:r>
            <a:endParaRPr lang="en-US" sz="1400" dirty="0"/>
          </a:p>
        </p:txBody>
      </p:sp>
      <p:sp>
        <p:nvSpPr>
          <p:cNvPr id="10" name="Text 8"/>
          <p:cNvSpPr/>
          <p:nvPr/>
        </p:nvSpPr>
        <p:spPr>
          <a:xfrm>
            <a:off x="5721350" y="2228850"/>
            <a:ext cx="1130300" cy="520700"/>
          </a:xfrm>
          <a:prstGeom prst="roundRect">
            <a:avLst>
              <a:gd name="adj" fmla="val 15854"/>
            </a:avLst>
          </a:prstGeom>
          <a:solidFill>
            <a:srgbClr val="FFFFFF"/>
          </a:solidFill>
          <a:ln w="12700">
            <a:solidFill>
              <a:srgbClr val="C9CFD8"/>
            </a:solidFill>
            <a:prstDash val="solid"/>
          </a:ln>
        </p:spPr>
        <p:txBody>
          <a:bodyPr wrap="square" lIns="0" tIns="0" rIns="0" bIns="0" rtlCol="0" anchor="ctr">
            <a:normAutofit/>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Arr A</a:t>
            </a:r>
            <a:endParaRPr lang="en-US" sz="1400" dirty="0"/>
          </a:p>
        </p:txBody>
      </p:sp>
      <p:sp>
        <p:nvSpPr>
          <p:cNvPr id="11" name="Text 9"/>
          <p:cNvSpPr/>
          <p:nvPr/>
        </p:nvSpPr>
        <p:spPr>
          <a:xfrm>
            <a:off x="7054850" y="2228850"/>
            <a:ext cx="1130300" cy="520700"/>
          </a:xfrm>
          <a:prstGeom prst="roundRect">
            <a:avLst>
              <a:gd name="adj" fmla="val 15854"/>
            </a:avLst>
          </a:prstGeom>
          <a:solidFill>
            <a:srgbClr val="FFFFFF"/>
          </a:solidFill>
          <a:ln w="12700">
            <a:solidFill>
              <a:srgbClr val="C9CFD8"/>
            </a:solidFill>
            <a:prstDash val="solid"/>
          </a:ln>
        </p:spPr>
        <p:txBody>
          <a:bodyPr wrap="square" lIns="0" tIns="0" rIns="0" bIns="0" rtlCol="0" anchor="ctr">
            <a:normAutofit/>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Dep A</a:t>
            </a:r>
            <a:endParaRPr lang="en-US" sz="1400" dirty="0"/>
          </a:p>
        </p:txBody>
      </p:sp>
      <p:sp>
        <p:nvSpPr>
          <p:cNvPr id="12" name="Text 10"/>
          <p:cNvSpPr/>
          <p:nvPr/>
        </p:nvSpPr>
        <p:spPr>
          <a:xfrm>
            <a:off x="8391525" y="2232025"/>
            <a:ext cx="1123950" cy="514350"/>
          </a:xfrm>
          <a:prstGeom prst="roundRect">
            <a:avLst>
              <a:gd name="adj" fmla="val 15432"/>
            </a:avLst>
          </a:prstGeom>
          <a:solidFill>
            <a:srgbClr val="F6E1CF"/>
          </a:solidFill>
          <a:ln w="19050">
            <a:solidFill>
              <a:srgbClr val="D9731A"/>
            </a:solidFill>
            <a:prstDash val="solid"/>
          </a:ln>
        </p:spPr>
        <p:txBody>
          <a:bodyPr wrap="square" lIns="0" tIns="0" rIns="0" bIns="0" rtlCol="0" anchor="ctr">
            <a:normAutofit/>
          </a:bodyPr>
          <a:lstStyle/>
          <a:p>
            <a:pPr algn="ct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Arr B</a:t>
            </a:r>
            <a:endParaRPr lang="en-US" sz="1400" dirty="0"/>
          </a:p>
        </p:txBody>
      </p:sp>
      <p:sp>
        <p:nvSpPr>
          <p:cNvPr id="13" name="Text 11"/>
          <p:cNvSpPr/>
          <p:nvPr/>
        </p:nvSpPr>
        <p:spPr>
          <a:xfrm>
            <a:off x="9721850" y="2228850"/>
            <a:ext cx="1130300" cy="520700"/>
          </a:xfrm>
          <a:prstGeom prst="roundRect">
            <a:avLst>
              <a:gd name="adj" fmla="val 15854"/>
            </a:avLst>
          </a:prstGeom>
          <a:solidFill>
            <a:srgbClr val="FFFFFF"/>
          </a:solidFill>
          <a:ln w="12700">
            <a:solidFill>
              <a:srgbClr val="C9CFD8"/>
            </a:solidFill>
            <a:prstDash val="solid"/>
          </a:ln>
        </p:spPr>
        <p:txBody>
          <a:bodyPr wrap="square" lIns="0" tIns="0" rIns="0" bIns="0" rtlCol="0" anchor="ctr">
            <a:normAutofit/>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Dep B</a:t>
            </a:r>
            <a:endParaRPr lang="en-US" sz="1400" dirty="0"/>
          </a:p>
        </p:txBody>
      </p:sp>
      <p:sp>
        <p:nvSpPr>
          <p:cNvPr id="14" name="Text 12"/>
          <p:cNvSpPr/>
          <p:nvPr/>
        </p:nvSpPr>
        <p:spPr>
          <a:xfrm>
            <a:off x="8382000" y="2832100"/>
            <a:ext cx="27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70C"/>
                </a:solidFill>
                <a:latin typeface="IBM Plex Sans" pitchFamily="34" charset="0"/>
                <a:ea typeface="IBM Plex Sans" pitchFamily="34" charset="-122"/>
                <a:cs typeface="IBM Plex Sans" pitchFamily="34" charset="-120"/>
              </a:rPr>
              <a:t>primary delay</a:t>
            </a:r>
            <a:endParaRPr lang="en-US" sz="1200" dirty="0"/>
          </a:p>
        </p:txBody>
      </p:sp>
      <p:pic>
        <p:nvPicPr>
          <p:cNvPr id="15" name="Image 0" descr="connector">    </p:cNvPr>
          <p:cNvPicPr>
            <a:picLocks noChangeAspect="1"/>
          </p:cNvPicPr>
          <p:nvPr/>
        </p:nvPicPr>
        <p:blipFill>
          <a:blip r:embed="rId1"/>
          <a:srcRect l="0" r="0" t="0" b="0"/>
          <a:stretch/>
        </p:blipFill>
        <p:spPr>
          <a:xfrm>
            <a:off x="6819900" y="2451100"/>
            <a:ext cx="266700" cy="76200"/>
          </a:xfrm>
          <a:prstGeom prst="rect">
            <a:avLst/>
          </a:prstGeom>
        </p:spPr>
      </p:pic>
      <p:pic>
        <p:nvPicPr>
          <p:cNvPr id="16" name="Image 1" descr="connector">    </p:cNvPr>
          <p:cNvPicPr>
            <a:picLocks noChangeAspect="1"/>
          </p:cNvPicPr>
          <p:nvPr/>
        </p:nvPicPr>
        <p:blipFill>
          <a:blip r:embed="rId2"/>
          <a:srcRect l="0" r="0" t="0" b="0"/>
          <a:stretch/>
        </p:blipFill>
        <p:spPr>
          <a:xfrm>
            <a:off x="8153400" y="2451100"/>
            <a:ext cx="266700" cy="76200"/>
          </a:xfrm>
          <a:prstGeom prst="rect">
            <a:avLst/>
          </a:prstGeom>
        </p:spPr>
      </p:pic>
      <p:pic>
        <p:nvPicPr>
          <p:cNvPr id="17" name="Image 2" descr="connector">    </p:cNvPr>
          <p:cNvPicPr>
            <a:picLocks noChangeAspect="1"/>
          </p:cNvPicPr>
          <p:nvPr/>
        </p:nvPicPr>
        <p:blipFill>
          <a:blip r:embed="rId3"/>
          <a:srcRect l="0" r="0" t="0" b="0"/>
          <a:stretch/>
        </p:blipFill>
        <p:spPr>
          <a:xfrm>
            <a:off x="9486900" y="2451100"/>
            <a:ext cx="266700" cy="76200"/>
          </a:xfrm>
          <a:prstGeom prst="rect">
            <a:avLst/>
          </a:prstGeom>
        </p:spPr>
      </p:pic>
      <p:pic>
        <p:nvPicPr>
          <p:cNvPr id="18" name="Image 3" descr="connector">    </p:cNvPr>
          <p:cNvPicPr>
            <a:picLocks noChangeAspect="1"/>
          </p:cNvPicPr>
          <p:nvPr/>
        </p:nvPicPr>
        <p:blipFill>
          <a:blip r:embed="rId4"/>
          <a:srcRect l="0" r="0" t="0" b="0"/>
          <a:stretch/>
        </p:blipFill>
        <p:spPr>
          <a:xfrm>
            <a:off x="8890000" y="3048000"/>
            <a:ext cx="127000" cy="1206500"/>
          </a:xfrm>
          <a:prstGeom prst="rect">
            <a:avLst/>
          </a:prstGeom>
        </p:spPr>
      </p:pic>
      <p:sp>
        <p:nvSpPr>
          <p:cNvPr id="19" name="Text 13"/>
          <p:cNvSpPr/>
          <p:nvPr/>
        </p:nvSpPr>
        <p:spPr>
          <a:xfrm>
            <a:off x="9080500" y="3492500"/>
            <a:ext cx="222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headway → knock-on</a:t>
            </a:r>
            <a:endParaRPr lang="en-US" sz="1200" dirty="0"/>
          </a:p>
        </p:txBody>
      </p:sp>
      <p:sp>
        <p:nvSpPr>
          <p:cNvPr id="20" name="Text 14"/>
          <p:cNvSpPr/>
          <p:nvPr/>
        </p:nvSpPr>
        <p:spPr>
          <a:xfrm>
            <a:off x="5715000" y="39370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Train Y</a:t>
            </a:r>
            <a:endParaRPr lang="en-US" sz="1400" dirty="0"/>
          </a:p>
        </p:txBody>
      </p:sp>
      <p:sp>
        <p:nvSpPr>
          <p:cNvPr id="21" name="Text 15"/>
          <p:cNvSpPr/>
          <p:nvPr/>
        </p:nvSpPr>
        <p:spPr>
          <a:xfrm>
            <a:off x="5721350" y="4260850"/>
            <a:ext cx="1130300" cy="520700"/>
          </a:xfrm>
          <a:prstGeom prst="roundRect">
            <a:avLst>
              <a:gd name="adj" fmla="val 15854"/>
            </a:avLst>
          </a:prstGeom>
          <a:solidFill>
            <a:srgbClr val="FFFFFF"/>
          </a:solidFill>
          <a:ln w="12700">
            <a:solidFill>
              <a:srgbClr val="C9CFD8"/>
            </a:solidFill>
            <a:prstDash val="solid"/>
          </a:ln>
        </p:spPr>
        <p:txBody>
          <a:bodyPr wrap="square" lIns="0" tIns="0" rIns="0" bIns="0" rtlCol="0" anchor="ctr">
            <a:normAutofit/>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Arr A</a:t>
            </a:r>
            <a:endParaRPr lang="en-US" sz="1400" dirty="0"/>
          </a:p>
        </p:txBody>
      </p:sp>
      <p:sp>
        <p:nvSpPr>
          <p:cNvPr id="22" name="Text 16"/>
          <p:cNvSpPr/>
          <p:nvPr/>
        </p:nvSpPr>
        <p:spPr>
          <a:xfrm>
            <a:off x="7054850" y="4260850"/>
            <a:ext cx="1130300" cy="520700"/>
          </a:xfrm>
          <a:prstGeom prst="roundRect">
            <a:avLst>
              <a:gd name="adj" fmla="val 15854"/>
            </a:avLst>
          </a:prstGeom>
          <a:solidFill>
            <a:srgbClr val="FFFFFF"/>
          </a:solidFill>
          <a:ln w="12700">
            <a:solidFill>
              <a:srgbClr val="C9CFD8"/>
            </a:solidFill>
            <a:prstDash val="solid"/>
          </a:ln>
        </p:spPr>
        <p:txBody>
          <a:bodyPr wrap="square" lIns="0" tIns="0" rIns="0" bIns="0" rtlCol="0" anchor="ctr">
            <a:normAutofit/>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Dep A</a:t>
            </a:r>
            <a:endParaRPr lang="en-US" sz="1400" dirty="0"/>
          </a:p>
        </p:txBody>
      </p:sp>
      <p:sp>
        <p:nvSpPr>
          <p:cNvPr id="23" name="Text 17"/>
          <p:cNvSpPr/>
          <p:nvPr/>
        </p:nvSpPr>
        <p:spPr>
          <a:xfrm>
            <a:off x="8391525" y="4264025"/>
            <a:ext cx="1123950" cy="514350"/>
          </a:xfrm>
          <a:prstGeom prst="roundRect">
            <a:avLst>
              <a:gd name="adj" fmla="val 15432"/>
            </a:avLst>
          </a:prstGeom>
          <a:solidFill>
            <a:srgbClr val="F6E1CF"/>
          </a:solidFill>
          <a:ln w="19050">
            <a:solidFill>
              <a:srgbClr val="D9731A"/>
            </a:solidFill>
            <a:prstDash val="dash"/>
          </a:ln>
        </p:spPr>
        <p:txBody>
          <a:bodyPr wrap="square" lIns="0" tIns="0" rIns="0" bIns="0" rtlCol="0" anchor="ctr">
            <a:normAutofit/>
          </a:bodyPr>
          <a:lstStyle/>
          <a:p>
            <a:pPr algn="ct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Arr B</a:t>
            </a:r>
            <a:endParaRPr lang="en-US" sz="1400" dirty="0"/>
          </a:p>
        </p:txBody>
      </p:sp>
      <p:sp>
        <p:nvSpPr>
          <p:cNvPr id="24" name="Text 18"/>
          <p:cNvSpPr/>
          <p:nvPr/>
        </p:nvSpPr>
        <p:spPr>
          <a:xfrm>
            <a:off x="9721850" y="4260850"/>
            <a:ext cx="1130300" cy="520700"/>
          </a:xfrm>
          <a:prstGeom prst="roundRect">
            <a:avLst>
              <a:gd name="adj" fmla="val 15854"/>
            </a:avLst>
          </a:prstGeom>
          <a:solidFill>
            <a:srgbClr val="FFFFFF"/>
          </a:solidFill>
          <a:ln w="12700">
            <a:solidFill>
              <a:srgbClr val="C9CFD8"/>
            </a:solidFill>
            <a:prstDash val="solid"/>
          </a:ln>
        </p:spPr>
        <p:txBody>
          <a:bodyPr wrap="square" lIns="0" tIns="0" rIns="0" bIns="0" rtlCol="0" anchor="ctr">
            <a:normAutofit/>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Dep B</a:t>
            </a:r>
            <a:endParaRPr lang="en-US" sz="1400" dirty="0"/>
          </a:p>
        </p:txBody>
      </p:sp>
      <p:pic>
        <p:nvPicPr>
          <p:cNvPr id="25" name="Image 4" descr="connector">    </p:cNvPr>
          <p:cNvPicPr>
            <a:picLocks noChangeAspect="1"/>
          </p:cNvPicPr>
          <p:nvPr/>
        </p:nvPicPr>
        <p:blipFill>
          <a:blip r:embed="rId5"/>
          <a:srcRect l="0" r="0" t="0" b="0"/>
          <a:stretch/>
        </p:blipFill>
        <p:spPr>
          <a:xfrm>
            <a:off x="6819900" y="4483100"/>
            <a:ext cx="266700" cy="76200"/>
          </a:xfrm>
          <a:prstGeom prst="rect">
            <a:avLst/>
          </a:prstGeom>
        </p:spPr>
      </p:pic>
      <p:pic>
        <p:nvPicPr>
          <p:cNvPr id="26" name="Image 5" descr="connector">    </p:cNvPr>
          <p:cNvPicPr>
            <a:picLocks noChangeAspect="1"/>
          </p:cNvPicPr>
          <p:nvPr/>
        </p:nvPicPr>
        <p:blipFill>
          <a:blip r:embed="rId6"/>
          <a:srcRect l="0" r="0" t="0" b="0"/>
          <a:stretch/>
        </p:blipFill>
        <p:spPr>
          <a:xfrm>
            <a:off x="8153400" y="4483100"/>
            <a:ext cx="266700" cy="76200"/>
          </a:xfrm>
          <a:prstGeom prst="rect">
            <a:avLst/>
          </a:prstGeom>
        </p:spPr>
      </p:pic>
      <p:pic>
        <p:nvPicPr>
          <p:cNvPr id="27" name="Image 6" descr="connector">    </p:cNvPr>
          <p:cNvPicPr>
            <a:picLocks noChangeAspect="1"/>
          </p:cNvPicPr>
          <p:nvPr/>
        </p:nvPicPr>
        <p:blipFill>
          <a:blip r:embed="rId7"/>
          <a:srcRect l="0" r="0" t="0" b="0"/>
          <a:stretch/>
        </p:blipFill>
        <p:spPr>
          <a:xfrm>
            <a:off x="9486900" y="4483100"/>
            <a:ext cx="266700" cy="76200"/>
          </a:xfrm>
          <a:prstGeom prst="rect">
            <a:avLst/>
          </a:prstGeom>
        </p:spPr>
      </p:pic>
      <p:sp>
        <p:nvSpPr>
          <p:cNvPr id="28" name="Text 19"/>
          <p:cNvSpPr/>
          <p:nvPr/>
        </p:nvSpPr>
        <p:spPr>
          <a:xfrm>
            <a:off x="5715000" y="5080000"/>
            <a:ext cx="5755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Delay propagation between two trains, adapted from Nguyen &amp; Li (2025)</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67643"/>
          </a:xfrm>
          <a:prstGeom prst="rect">
            <a:avLst/>
          </a:prstGeom>
          <a:noFill/>
          <a:ln/>
        </p:spPr>
        <p:txBody>
          <a:bodyPr wrap="square" lIns="0" tIns="0" rIns="0" bIns="0" rtlCol="0" anchor="t">
            <a:normAutofit/>
          </a:bodyPr>
          <a:lstStyle/>
          <a:p>
            <a:pPr algn="l" indent="0" marL="0">
              <a:lnSpc>
                <a:spcPts val="1923"/>
              </a:lnSpc>
              <a:buNone/>
            </a:pPr>
            <a:r>
              <a:rPr lang="en-US" sz="1374" b="1" spc="200" kern="0" dirty="0">
                <a:solidFill>
                  <a:srgbClr val="0F7C7A"/>
                </a:solidFill>
                <a:latin typeface="IBM Plex Sans" pitchFamily="34" charset="0"/>
                <a:ea typeface="IBM Plex Sans" pitchFamily="34" charset="-122"/>
                <a:cs typeface="IBM Plex Sans" pitchFamily="34" charset="-120"/>
              </a:rPr>
              <a:t>01 · THE PROBLEM</a:t>
            </a:r>
            <a:endParaRPr lang="en-US" sz="1374" dirty="0"/>
          </a:p>
        </p:txBody>
      </p:sp>
      <p:sp>
        <p:nvSpPr>
          <p:cNvPr id="3" name="Text 1"/>
          <p:cNvSpPr/>
          <p:nvPr>
            <p:ph type="title"/>
          </p:nvPr>
        </p:nvSpPr>
        <p:spPr>
          <a:xfrm>
            <a:off x="812800" y="1232843"/>
            <a:ext cx="10883392" cy="514846"/>
          </a:xfrm>
          <a:prstGeom prst="rect">
            <a:avLst/>
          </a:prstGeom>
          <a:noFill/>
          <a:ln/>
        </p:spPr>
        <p:txBody>
          <a:bodyPr wrap="square" lIns="0" tIns="0" rIns="0" bIns="0" rtlCol="0" anchor="t">
            <a:normAutofit/>
          </a:bodyPr>
          <a:lstStyle/>
          <a:p>
            <a:pPr algn="l" indent="0" marL="0">
              <a:lnSpc>
                <a:spcPts val="3873"/>
              </a:lnSpc>
              <a:buNone/>
            </a:pPr>
            <a:r>
              <a:rPr lang="en-US" sz="3521" b="1" i="0" dirty="0">
                <a:solidFill>
                  <a:srgbClr val="14213D"/>
                </a:solidFill>
                <a:latin typeface="Space Grotesk" pitchFamily="34" charset="0"/>
                <a:ea typeface="Space Grotesk" pitchFamily="34" charset="-122"/>
                <a:cs typeface="Space Grotesk" pitchFamily="34" charset="-120"/>
              </a:rPr>
              <a:t>Autoregressive rollout lets errors pile up</a:t>
            </a:r>
            <a:endParaRPr lang="en-US" sz="3521" dirty="0"/>
          </a:p>
        </p:txBody>
      </p:sp>
      <p:sp>
        <p:nvSpPr>
          <p:cNvPr id="4" name="Text 2"/>
          <p:cNvSpPr/>
          <p:nvPr/>
        </p:nvSpPr>
        <p:spPr>
          <a:xfrm>
            <a:off x="812800" y="1900089"/>
            <a:ext cx="10883392" cy="543620"/>
          </a:xfrm>
          <a:prstGeom prst="rect">
            <a:avLst/>
          </a:prstGeom>
          <a:noFill/>
          <a:ln/>
        </p:spPr>
        <p:txBody>
          <a:bodyPr wrap="square" lIns="0" tIns="0" rIns="0" bIns="0" rtlCol="0" anchor="t">
            <a:normAutofit/>
          </a:bodyPr>
          <a:lstStyle/>
          <a:p>
            <a:pPr algn="l" indent="0" marL="0">
              <a:lnSpc>
                <a:spcPts val="2061"/>
              </a:lnSpc>
              <a:buNone/>
            </a:pPr>
            <a:r>
              <a:rPr lang="en-US" sz="1472" b="1" dirty="0">
                <a:solidFill>
                  <a:srgbClr val="4A5568"/>
                </a:solidFill>
                <a:latin typeface="IBM Plex Sans" pitchFamily="34" charset="0"/>
                <a:ea typeface="IBM Plex Sans" pitchFamily="34" charset="-122"/>
                <a:cs typeface="IBM Plex Sans" pitchFamily="34" charset="-120"/>
              </a:rPr>
              <a:t>Strength:</a:t>
            </a:r>
            <a:r>
              <a:rPr lang="en-US" sz="1472" dirty="0">
                <a:solidFill>
                  <a:srgbClr val="4A5568"/>
                </a:solidFill>
                <a:latin typeface="IBM Plex Sans" pitchFamily="34" charset="0"/>
                <a:ea typeface="IBM Plex Sans" pitchFamily="34" charset="-122"/>
                <a:cs typeface="IBM Plex Sans" pitchFamily="34" charset="-120"/>
              </a:rPr>
              <a:t> graph-based autoregressive (AR) models, such as GATv2 (Nguyen &amp; Li, 2025), use the railway topology to capture how delays spread between connected trains.</a:t>
            </a:r>
            <a:endParaRPr lang="en-US" sz="1472" dirty="0"/>
          </a:p>
        </p:txBody>
      </p:sp>
      <p:sp>
        <p:nvSpPr>
          <p:cNvPr id="5" name="Text 3"/>
          <p:cNvSpPr/>
          <p:nvPr/>
        </p:nvSpPr>
        <p:spPr>
          <a:xfrm>
            <a:off x="812800" y="2494508"/>
            <a:ext cx="10883392" cy="543570"/>
          </a:xfrm>
          <a:prstGeom prst="rect">
            <a:avLst/>
          </a:prstGeom>
          <a:noFill/>
          <a:ln/>
        </p:spPr>
        <p:txBody>
          <a:bodyPr wrap="square" lIns="0" tIns="0" rIns="0" bIns="0" rtlCol="0" anchor="t">
            <a:normAutofit/>
          </a:bodyPr>
          <a:lstStyle/>
          <a:p>
            <a:pPr algn="l" indent="0" marL="0">
              <a:lnSpc>
                <a:spcPts val="2061"/>
              </a:lnSpc>
              <a:buNone/>
            </a:pPr>
            <a:r>
              <a:rPr lang="en-US" sz="1472" b="1" dirty="0">
                <a:solidFill>
                  <a:srgbClr val="4A5568"/>
                </a:solidFill>
                <a:latin typeface="IBM Plex Sans" pitchFamily="34" charset="0"/>
                <a:ea typeface="IBM Plex Sans" pitchFamily="34" charset="-122"/>
                <a:cs typeface="IBM Plex Sans" pitchFamily="34" charset="-120"/>
              </a:rPr>
              <a:t>Weakness:</a:t>
            </a:r>
            <a:r>
              <a:rPr lang="en-US" sz="1472" dirty="0">
                <a:solidFill>
                  <a:srgbClr val="4A5568"/>
                </a:solidFill>
                <a:latin typeface="IBM Plex Sans" pitchFamily="34" charset="0"/>
                <a:ea typeface="IBM Plex Sans" pitchFamily="34" charset="-122"/>
                <a:cs typeface="IBM Plex Sans" pitchFamily="34" charset="-120"/>
              </a:rPr>
              <a:t> they forecast </a:t>
            </a:r>
            <a:r>
              <a:rPr lang="en-US" sz="1472" b="1" dirty="0">
                <a:solidFill>
                  <a:srgbClr val="4A5568"/>
                </a:solidFill>
                <a:latin typeface="IBM Plex Sans" pitchFamily="34" charset="0"/>
                <a:ea typeface="IBM Plex Sans" pitchFamily="34" charset="-122"/>
                <a:cs typeface="IBM Plex Sans" pitchFamily="34" charset="-120"/>
              </a:rPr>
              <a:t>t+1, t+2, t+3</a:t>
            </a:r>
            <a:r>
              <a:rPr lang="en-US" sz="1472" dirty="0">
                <a:solidFill>
                  <a:srgbClr val="4A5568"/>
                </a:solidFill>
                <a:latin typeface="IBM Plex Sans" pitchFamily="34" charset="0"/>
                <a:ea typeface="IBM Plex Sans" pitchFamily="34" charset="-122"/>
                <a:cs typeface="IBM Plex Sans" pitchFamily="34" charset="-120"/>
              </a:rPr>
              <a:t> (the train’s next three events) one at a time, feeding each prediction back in, so </a:t>
            </a:r>
            <a:r>
              <a:rPr lang="en-US" sz="1472" b="1" dirty="0">
                <a:solidFill>
                  <a:srgbClr val="4A5568"/>
                </a:solidFill>
                <a:latin typeface="IBM Plex Sans" pitchFamily="34" charset="0"/>
                <a:ea typeface="IBM Plex Sans" pitchFamily="34" charset="-122"/>
                <a:cs typeface="IBM Plex Sans" pitchFamily="34" charset="-120"/>
              </a:rPr>
              <a:t>errors accumulate</a:t>
            </a:r>
            <a:r>
              <a:rPr lang="en-US" sz="1472" dirty="0">
                <a:solidFill>
                  <a:srgbClr val="4A5568"/>
                </a:solidFill>
                <a:latin typeface="IBM Plex Sans" pitchFamily="34" charset="0"/>
                <a:ea typeface="IBM Plex Sans" pitchFamily="34" charset="-122"/>
                <a:cs typeface="IBM Plex Sans" pitchFamily="34" charset="-120"/>
              </a:rPr>
              <a:t>.</a:t>
            </a:r>
            <a:endParaRPr lang="en-US" sz="1472" dirty="0"/>
          </a:p>
        </p:txBody>
      </p:sp>
      <p:sp>
        <p:nvSpPr>
          <p:cNvPr id="6" name="Shape 4"/>
          <p:cNvSpPr/>
          <p:nvPr/>
        </p:nvSpPr>
        <p:spPr>
          <a:xfrm>
            <a:off x="819150" y="3186658"/>
            <a:ext cx="2997200" cy="1216620"/>
          </a:xfrm>
          <a:prstGeom prst="roundRect">
            <a:avLst>
              <a:gd name="adj" fmla="val 7829"/>
            </a:avLst>
          </a:prstGeom>
          <a:solidFill>
            <a:srgbClr val="FFFFFF"/>
          </a:solidFill>
          <a:ln w="12700">
            <a:solidFill>
              <a:srgbClr val="C9CFD8"/>
            </a:solidFill>
            <a:prstDash val="solid"/>
          </a:ln>
        </p:spPr>
      </p:sp>
      <p:sp>
        <p:nvSpPr>
          <p:cNvPr id="7" name="Text 5"/>
          <p:cNvSpPr/>
          <p:nvPr/>
        </p:nvSpPr>
        <p:spPr>
          <a:xfrm>
            <a:off x="1028700" y="3396208"/>
            <a:ext cx="265544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A7179"/>
                </a:solidFill>
                <a:latin typeface="IBM Plex Sans" pitchFamily="34" charset="0"/>
                <a:ea typeface="IBM Plex Sans" pitchFamily="34" charset="-122"/>
                <a:cs typeface="IBM Plex Sans" pitchFamily="34" charset="-120"/>
              </a:rPr>
              <a:t>t+1 · next event</a:t>
            </a:r>
            <a:endParaRPr lang="en-US" sz="1400" dirty="0"/>
          </a:p>
        </p:txBody>
      </p:sp>
      <p:sp>
        <p:nvSpPr>
          <p:cNvPr id="8" name="Text 6"/>
          <p:cNvSpPr/>
          <p:nvPr/>
        </p:nvSpPr>
        <p:spPr>
          <a:xfrm>
            <a:off x="1028700" y="3695898"/>
            <a:ext cx="2655443"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4213D"/>
                </a:solidFill>
                <a:latin typeface="Space Grotesk" pitchFamily="34" charset="0"/>
                <a:ea typeface="Space Grotesk" pitchFamily="34" charset="-122"/>
                <a:cs typeface="Space Grotesk" pitchFamily="34" charset="-120"/>
              </a:rPr>
              <a:t>2.41 min</a:t>
            </a:r>
            <a:endParaRPr lang="en-US" sz="2800" dirty="0"/>
          </a:p>
        </p:txBody>
      </p:sp>
      <p:pic>
        <p:nvPicPr>
          <p:cNvPr id="9" name="Image 0" descr="connector">    </p:cNvPr>
          <p:cNvPicPr>
            <a:picLocks noChangeAspect="1"/>
          </p:cNvPicPr>
          <p:nvPr/>
        </p:nvPicPr>
        <p:blipFill>
          <a:blip r:embed="rId1"/>
          <a:srcRect l="0" r="0" t="0" b="0"/>
          <a:stretch/>
        </p:blipFill>
        <p:spPr>
          <a:xfrm>
            <a:off x="3822700" y="3756868"/>
            <a:ext cx="762000" cy="76200"/>
          </a:xfrm>
          <a:prstGeom prst="rect">
            <a:avLst/>
          </a:prstGeom>
        </p:spPr>
      </p:pic>
      <p:sp>
        <p:nvSpPr>
          <p:cNvPr id="10" name="Shape 7"/>
          <p:cNvSpPr/>
          <p:nvPr/>
        </p:nvSpPr>
        <p:spPr>
          <a:xfrm>
            <a:off x="4591050" y="3186658"/>
            <a:ext cx="2997200" cy="1216620"/>
          </a:xfrm>
          <a:prstGeom prst="roundRect">
            <a:avLst>
              <a:gd name="adj" fmla="val 7829"/>
            </a:avLst>
          </a:prstGeom>
          <a:solidFill>
            <a:srgbClr val="FFFFFF"/>
          </a:solidFill>
          <a:ln w="12700">
            <a:solidFill>
              <a:srgbClr val="E3B48A"/>
            </a:solidFill>
            <a:prstDash val="solid"/>
          </a:ln>
        </p:spPr>
      </p:sp>
      <p:sp>
        <p:nvSpPr>
          <p:cNvPr id="11" name="Text 8"/>
          <p:cNvSpPr/>
          <p:nvPr/>
        </p:nvSpPr>
        <p:spPr>
          <a:xfrm>
            <a:off x="4800600" y="3396208"/>
            <a:ext cx="265544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A7179"/>
                </a:solidFill>
                <a:latin typeface="IBM Plex Sans" pitchFamily="34" charset="0"/>
                <a:ea typeface="IBM Plex Sans" pitchFamily="34" charset="-122"/>
                <a:cs typeface="IBM Plex Sans" pitchFamily="34" charset="-120"/>
              </a:rPr>
              <a:t>t+2 · fed back</a:t>
            </a:r>
            <a:endParaRPr lang="en-US" sz="1400" dirty="0"/>
          </a:p>
        </p:txBody>
      </p:sp>
      <p:sp>
        <p:nvSpPr>
          <p:cNvPr id="12" name="Text 9"/>
          <p:cNvSpPr/>
          <p:nvPr/>
        </p:nvSpPr>
        <p:spPr>
          <a:xfrm>
            <a:off x="4800600" y="3695898"/>
            <a:ext cx="2655443"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4570C"/>
                </a:solidFill>
                <a:latin typeface="Space Grotesk" pitchFamily="34" charset="0"/>
                <a:ea typeface="Space Grotesk" pitchFamily="34" charset="-122"/>
                <a:cs typeface="Space Grotesk" pitchFamily="34" charset="-120"/>
              </a:rPr>
              <a:t>2.86 min</a:t>
            </a:r>
            <a:endParaRPr lang="en-US" sz="2800" dirty="0"/>
          </a:p>
        </p:txBody>
      </p:sp>
      <p:pic>
        <p:nvPicPr>
          <p:cNvPr id="13" name="Image 1" descr="connector">    </p:cNvPr>
          <p:cNvPicPr>
            <a:picLocks noChangeAspect="1"/>
          </p:cNvPicPr>
          <p:nvPr/>
        </p:nvPicPr>
        <p:blipFill>
          <a:blip r:embed="rId2"/>
          <a:srcRect l="0" r="0" t="0" b="0"/>
          <a:stretch/>
        </p:blipFill>
        <p:spPr>
          <a:xfrm>
            <a:off x="7594600" y="3756868"/>
            <a:ext cx="762000" cy="76200"/>
          </a:xfrm>
          <a:prstGeom prst="rect">
            <a:avLst/>
          </a:prstGeom>
        </p:spPr>
      </p:pic>
      <p:sp>
        <p:nvSpPr>
          <p:cNvPr id="14" name="Shape 10"/>
          <p:cNvSpPr/>
          <p:nvPr/>
        </p:nvSpPr>
        <p:spPr>
          <a:xfrm>
            <a:off x="8366125" y="3183483"/>
            <a:ext cx="3003550" cy="1222970"/>
          </a:xfrm>
          <a:prstGeom prst="roundRect">
            <a:avLst>
              <a:gd name="adj" fmla="val 7529"/>
            </a:avLst>
          </a:prstGeom>
          <a:solidFill>
            <a:srgbClr val="F6E1CF"/>
          </a:solidFill>
          <a:ln w="19050">
            <a:solidFill>
              <a:srgbClr val="D9731A"/>
            </a:solidFill>
            <a:prstDash val="solid"/>
          </a:ln>
        </p:spPr>
      </p:sp>
      <p:sp>
        <p:nvSpPr>
          <p:cNvPr id="15" name="Text 11"/>
          <p:cNvSpPr/>
          <p:nvPr/>
        </p:nvSpPr>
        <p:spPr>
          <a:xfrm>
            <a:off x="8578850" y="3396208"/>
            <a:ext cx="265544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A7179"/>
                </a:solidFill>
                <a:latin typeface="IBM Plex Sans" pitchFamily="34" charset="0"/>
                <a:ea typeface="IBM Plex Sans" pitchFamily="34" charset="-122"/>
                <a:cs typeface="IBM Plex Sans" pitchFamily="34" charset="-120"/>
              </a:rPr>
              <a:t>t+3 · fed back</a:t>
            </a:r>
            <a:endParaRPr lang="en-US" sz="1400" dirty="0"/>
          </a:p>
        </p:txBody>
      </p:sp>
      <p:sp>
        <p:nvSpPr>
          <p:cNvPr id="16" name="Text 12"/>
          <p:cNvSpPr/>
          <p:nvPr/>
        </p:nvSpPr>
        <p:spPr>
          <a:xfrm>
            <a:off x="8578850" y="3695898"/>
            <a:ext cx="2655443"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4570C"/>
                </a:solidFill>
                <a:latin typeface="Space Grotesk" pitchFamily="34" charset="0"/>
                <a:ea typeface="Space Grotesk" pitchFamily="34" charset="-122"/>
                <a:cs typeface="Space Grotesk" pitchFamily="34" charset="-120"/>
              </a:rPr>
              <a:t>3.12 min</a:t>
            </a:r>
            <a:endParaRPr lang="en-US" sz="2800" dirty="0"/>
          </a:p>
        </p:txBody>
      </p:sp>
      <p:sp>
        <p:nvSpPr>
          <p:cNvPr id="17" name="Text 13"/>
          <p:cNvSpPr/>
          <p:nvPr/>
        </p:nvSpPr>
        <p:spPr>
          <a:xfrm>
            <a:off x="812800" y="4577259"/>
            <a:ext cx="10883392" cy="267643"/>
          </a:xfrm>
          <a:prstGeom prst="rect">
            <a:avLst/>
          </a:prstGeom>
          <a:noFill/>
          <a:ln/>
        </p:spPr>
        <p:txBody>
          <a:bodyPr wrap="square" lIns="0" tIns="0" rIns="0" bIns="0" rtlCol="0" anchor="t">
            <a:normAutofit/>
          </a:bodyPr>
          <a:lstStyle/>
          <a:p>
            <a:pPr algn="l" indent="0" marL="0">
              <a:lnSpc>
                <a:spcPts val="1923"/>
              </a:lnSpc>
              <a:buNone/>
            </a:pPr>
            <a:r>
              <a:rPr lang="en-US" sz="1374" dirty="0">
                <a:solidFill>
                  <a:srgbClr val="6A7179"/>
                </a:solidFill>
                <a:latin typeface="IBM Plex Sans" pitchFamily="34" charset="0"/>
                <a:ea typeface="IBM Plex Sans" pitchFamily="34" charset="-122"/>
                <a:cs typeface="IBM Plex Sans" pitchFamily="34" charset="-120"/>
              </a:rPr>
              <a:t>AR mean absolute error by horizon: error grows about 30% from t+1 to t+3.</a:t>
            </a:r>
            <a:endParaRPr lang="en-US" sz="1374" dirty="0"/>
          </a:p>
        </p:txBody>
      </p:sp>
      <p:sp>
        <p:nvSpPr>
          <p:cNvPr id="18" name="Text 14"/>
          <p:cNvSpPr/>
          <p:nvPr/>
        </p:nvSpPr>
        <p:spPr>
          <a:xfrm>
            <a:off x="812800" y="4997301"/>
            <a:ext cx="10566400" cy="1047899"/>
          </a:xfrm>
          <a:prstGeom prst="roundRect">
            <a:avLst>
              <a:gd name="adj" fmla="val 9696"/>
            </a:avLst>
          </a:prstGeom>
          <a:solidFill>
            <a:srgbClr val="14213D"/>
          </a:solidFill>
          <a:ln/>
        </p:spPr>
        <p:txBody>
          <a:bodyPr wrap="square" lIns="275042" tIns="148042" rIns="0" bIns="122642" rtlCol="0" anchor="t">
            <a:normAutofit/>
          </a:bodyPr>
          <a:lstStyle/>
          <a:p>
            <a:pPr algn="l" indent="0" marL="0">
              <a:lnSpc>
                <a:spcPts val="2730"/>
              </a:lnSpc>
              <a:buNone/>
            </a:pPr>
            <a:r>
              <a:rPr lang="en-US" sz="1950" b="1" dirty="0">
                <a:solidFill>
                  <a:srgbClr val="F4F2EC"/>
                </a:solidFill>
                <a:latin typeface="Space Grotesk" pitchFamily="34" charset="0"/>
                <a:ea typeface="Space Grotesk" pitchFamily="34" charset="-122"/>
                <a:cs typeface="Space Grotesk" pitchFamily="34" charset="-120"/>
              </a:rPr>
              <a:t>Research question: can direct multi-horizon decoding reduce error at later horizons?</a:t>
            </a:r>
            <a:endParaRPr lang="en-US" sz="1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819150" y="1847850"/>
            <a:ext cx="3619500" cy="3543300"/>
          </a:xfrm>
          <a:prstGeom prst="roundRect">
            <a:avLst>
              <a:gd name="adj" fmla="val 2688"/>
            </a:avLst>
          </a:prstGeom>
          <a:solidFill>
            <a:srgbClr val="FFFFFF"/>
          </a:solidFill>
          <a:ln w="12700">
            <a:solidFill>
              <a:srgbClr val="C9CFD8"/>
            </a:solidFill>
            <a:prstDash val="solid"/>
          </a:ln>
        </p:spPr>
      </p:sp>
      <p:sp>
        <p:nvSpPr>
          <p:cNvPr id="3" name="Shape 1"/>
          <p:cNvSpPr/>
          <p:nvPr/>
        </p:nvSpPr>
        <p:spPr>
          <a:xfrm>
            <a:off x="4832350" y="1847850"/>
            <a:ext cx="1447800" cy="3543300"/>
          </a:xfrm>
          <a:prstGeom prst="roundRect">
            <a:avLst>
              <a:gd name="adj" fmla="val 6579"/>
            </a:avLst>
          </a:prstGeom>
          <a:solidFill>
            <a:srgbClr val="FFFFFF"/>
          </a:solidFill>
          <a:ln w="12700">
            <a:solidFill>
              <a:srgbClr val="C9CFD8"/>
            </a:solidFill>
            <a:prstDash val="solid"/>
          </a:ln>
        </p:spPr>
      </p:sp>
      <p:sp>
        <p:nvSpPr>
          <p:cNvPr id="4" name="Shape 2"/>
          <p:cNvSpPr/>
          <p:nvPr/>
        </p:nvSpPr>
        <p:spPr>
          <a:xfrm>
            <a:off x="6677025" y="1851025"/>
            <a:ext cx="2520950" cy="3536950"/>
          </a:xfrm>
          <a:prstGeom prst="roundRect">
            <a:avLst>
              <a:gd name="adj" fmla="val 3652"/>
            </a:avLst>
          </a:prstGeom>
          <a:solidFill>
            <a:srgbClr val="DDF0EE"/>
          </a:solidFill>
          <a:ln w="19050">
            <a:solidFill>
              <a:srgbClr val="0F7C7A"/>
            </a:solidFill>
            <a:prstDash val="solid"/>
          </a:ln>
        </p:spPr>
      </p:sp>
      <p:sp>
        <p:nvSpPr>
          <p:cNvPr id="5" name="Shape 3"/>
          <p:cNvSpPr/>
          <p:nvPr/>
        </p:nvSpPr>
        <p:spPr>
          <a:xfrm>
            <a:off x="9534525" y="1851025"/>
            <a:ext cx="1835150" cy="3536950"/>
          </a:xfrm>
          <a:prstGeom prst="roundRect">
            <a:avLst>
              <a:gd name="adj" fmla="val 5017"/>
            </a:avLst>
          </a:prstGeom>
          <a:solidFill>
            <a:srgbClr val="DDF0EE"/>
          </a:solidFill>
          <a:ln w="19050">
            <a:solidFill>
              <a:srgbClr val="0F7C7A"/>
            </a:solidFill>
            <a:prstDash val="solid"/>
          </a:ln>
        </p:spPr>
      </p:sp>
      <p:sp>
        <p:nvSpPr>
          <p:cNvPr id="6" name="Text 4"/>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0F7C7A"/>
                </a:solidFill>
                <a:latin typeface="IBM Plex Sans" pitchFamily="34" charset="0"/>
                <a:ea typeface="IBM Plex Sans" pitchFamily="34" charset="-122"/>
                <a:cs typeface="IBM Plex Sans" pitchFamily="34" charset="-120"/>
              </a:rPr>
              <a:t>02 · MY MODEL</a:t>
            </a:r>
            <a:endParaRPr lang="en-US" sz="1400" dirty="0"/>
          </a:p>
        </p:txBody>
      </p:sp>
      <p:sp>
        <p:nvSpPr>
          <p:cNvPr id="7" name="Text 5"/>
          <p:cNvSpPr/>
          <p:nvPr>
            <p:ph type="title"/>
          </p:nvPr>
        </p:nvSpPr>
        <p:spPr>
          <a:xfrm>
            <a:off x="812800" y="118869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One graph, three horizons at once, no feedback</a:t>
            </a:r>
            <a:endParaRPr lang="en-US" sz="3200" dirty="0"/>
          </a:p>
        </p:txBody>
      </p:sp>
      <p:sp>
        <p:nvSpPr>
          <p:cNvPr id="8" name="Text 6"/>
          <p:cNvSpPr/>
          <p:nvPr/>
        </p:nvSpPr>
        <p:spPr>
          <a:xfrm>
            <a:off x="990600" y="1968500"/>
            <a:ext cx="340106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7C7A"/>
                </a:solidFill>
                <a:latin typeface="IBM Plex Sans" pitchFamily="34" charset="0"/>
                <a:ea typeface="IBM Plex Sans" pitchFamily="34" charset="-122"/>
                <a:cs typeface="IBM Plex Sans" pitchFamily="34" charset="-120"/>
              </a:rPr>
              <a:t>1</a:t>
            </a:r>
            <a:r>
              <a:rPr lang="en-US" sz="1400" b="1" dirty="0">
                <a:solidFill>
                  <a:srgbClr val="14213D"/>
                </a:solidFill>
                <a:latin typeface="IBM Plex Sans" pitchFamily="34" charset="0"/>
                <a:ea typeface="IBM Plex Sans" pitchFamily="34" charset="-122"/>
                <a:cs typeface="IBM Plex Sans" pitchFamily="34" charset="-120"/>
              </a:rPr>
              <a:t> · Event graph</a:t>
            </a:r>
            <a:endParaRPr lang="en-US" sz="1400" dirty="0"/>
          </a:p>
        </p:txBody>
      </p:sp>
      <p:sp>
        <p:nvSpPr>
          <p:cNvPr id="9" name="Text 7"/>
          <p:cNvSpPr/>
          <p:nvPr/>
        </p:nvSpPr>
        <p:spPr>
          <a:xfrm>
            <a:off x="990600" y="2260600"/>
            <a:ext cx="34010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Every arrival and departure is a node</a:t>
            </a:r>
            <a:endParaRPr lang="en-US" sz="1200" dirty="0"/>
          </a:p>
        </p:txBody>
      </p:sp>
      <p:sp>
        <p:nvSpPr>
          <p:cNvPr id="10" name="Text 8"/>
          <p:cNvSpPr/>
          <p:nvPr/>
        </p:nvSpPr>
        <p:spPr>
          <a:xfrm>
            <a:off x="990600" y="2667000"/>
            <a:ext cx="1320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Train X</a:t>
            </a:r>
            <a:endParaRPr lang="en-US" sz="1200" dirty="0"/>
          </a:p>
        </p:txBody>
      </p:sp>
      <p:sp>
        <p:nvSpPr>
          <p:cNvPr id="11" name="Text 9"/>
          <p:cNvSpPr/>
          <p:nvPr/>
        </p:nvSpPr>
        <p:spPr>
          <a:xfrm>
            <a:off x="996950" y="2927350"/>
            <a:ext cx="685800" cy="393700"/>
          </a:xfrm>
          <a:prstGeom prst="roundRect">
            <a:avLst>
              <a:gd name="adj" fmla="val 17742"/>
            </a:avLst>
          </a:prstGeom>
          <a:solidFill>
            <a:srgbClr val="EEF1F5"/>
          </a:solidFill>
          <a:ln w="12700">
            <a:solidFill>
              <a:srgbClr val="14213D"/>
            </a:solidFill>
            <a:prstDash val="solid"/>
          </a:ln>
        </p:spPr>
        <p:txBody>
          <a:bodyPr wrap="square" lIns="0" tIns="0" rIns="0" bIns="0"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Arr A</a:t>
            </a:r>
            <a:endParaRPr lang="en-US" sz="1200" dirty="0"/>
          </a:p>
        </p:txBody>
      </p:sp>
      <p:sp>
        <p:nvSpPr>
          <p:cNvPr id="12" name="Text 10"/>
          <p:cNvSpPr/>
          <p:nvPr/>
        </p:nvSpPr>
        <p:spPr>
          <a:xfrm>
            <a:off x="2235200" y="2927350"/>
            <a:ext cx="685800" cy="393700"/>
          </a:xfrm>
          <a:prstGeom prst="roundRect">
            <a:avLst>
              <a:gd name="adj" fmla="val 17742"/>
            </a:avLst>
          </a:prstGeom>
          <a:solidFill>
            <a:srgbClr val="EEF1F5"/>
          </a:solidFill>
          <a:ln w="12700">
            <a:solidFill>
              <a:srgbClr val="14213D"/>
            </a:solidFill>
            <a:prstDash val="solid"/>
          </a:ln>
        </p:spPr>
        <p:txBody>
          <a:bodyPr wrap="square" lIns="0" tIns="0" rIns="0" bIns="0"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Dep A</a:t>
            </a:r>
            <a:endParaRPr lang="en-US" sz="1200" dirty="0"/>
          </a:p>
        </p:txBody>
      </p:sp>
      <p:sp>
        <p:nvSpPr>
          <p:cNvPr id="13" name="Text 11"/>
          <p:cNvSpPr/>
          <p:nvPr/>
        </p:nvSpPr>
        <p:spPr>
          <a:xfrm>
            <a:off x="3473450" y="2927350"/>
            <a:ext cx="685800" cy="393700"/>
          </a:xfrm>
          <a:prstGeom prst="roundRect">
            <a:avLst>
              <a:gd name="adj" fmla="val 17742"/>
            </a:avLst>
          </a:prstGeom>
          <a:solidFill>
            <a:srgbClr val="EEF1F5"/>
          </a:solidFill>
          <a:ln w="12700">
            <a:solidFill>
              <a:srgbClr val="14213D"/>
            </a:solidFill>
            <a:prstDash val="solid"/>
          </a:ln>
        </p:spPr>
        <p:txBody>
          <a:bodyPr wrap="square" lIns="0" tIns="0" rIns="0" bIns="0"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Arr B</a:t>
            </a:r>
            <a:endParaRPr lang="en-US" sz="1200" dirty="0"/>
          </a:p>
        </p:txBody>
      </p:sp>
      <p:pic>
        <p:nvPicPr>
          <p:cNvPr id="14" name="Image 0" descr="connector">    </p:cNvPr>
          <p:cNvPicPr>
            <a:picLocks noChangeAspect="1"/>
          </p:cNvPicPr>
          <p:nvPr/>
        </p:nvPicPr>
        <p:blipFill>
          <a:blip r:embed="rId1"/>
          <a:srcRect l="0" r="0" t="0" b="0"/>
          <a:stretch/>
        </p:blipFill>
        <p:spPr>
          <a:xfrm>
            <a:off x="1625600" y="3060700"/>
            <a:ext cx="666750" cy="127000"/>
          </a:xfrm>
          <a:prstGeom prst="rect">
            <a:avLst/>
          </a:prstGeom>
        </p:spPr>
      </p:pic>
      <p:pic>
        <p:nvPicPr>
          <p:cNvPr id="15" name="Image 1" descr="connector">    </p:cNvPr>
          <p:cNvPicPr>
            <a:picLocks noChangeAspect="1"/>
          </p:cNvPicPr>
          <p:nvPr/>
        </p:nvPicPr>
        <p:blipFill>
          <a:blip r:embed="rId2"/>
          <a:srcRect l="0" r="0" t="0" b="0"/>
          <a:stretch/>
        </p:blipFill>
        <p:spPr>
          <a:xfrm>
            <a:off x="2863850" y="3060700"/>
            <a:ext cx="666750" cy="127000"/>
          </a:xfrm>
          <a:prstGeom prst="rect">
            <a:avLst/>
          </a:prstGeom>
        </p:spPr>
      </p:pic>
      <p:sp>
        <p:nvSpPr>
          <p:cNvPr id="16" name="Text 12"/>
          <p:cNvSpPr/>
          <p:nvPr/>
        </p:nvSpPr>
        <p:spPr>
          <a:xfrm>
            <a:off x="1625600" y="2692400"/>
            <a:ext cx="6604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F7C7A"/>
                </a:solidFill>
                <a:latin typeface="IBM Plex Sans" pitchFamily="34" charset="0"/>
                <a:ea typeface="IBM Plex Sans" pitchFamily="34" charset="-122"/>
                <a:cs typeface="IBM Plex Sans" pitchFamily="34" charset="-120"/>
              </a:rPr>
              <a:t>dwell</a:t>
            </a:r>
            <a:endParaRPr lang="en-US" sz="1200" dirty="0"/>
          </a:p>
        </p:txBody>
      </p:sp>
      <p:sp>
        <p:nvSpPr>
          <p:cNvPr id="17" name="Text 13"/>
          <p:cNvSpPr/>
          <p:nvPr/>
        </p:nvSpPr>
        <p:spPr>
          <a:xfrm>
            <a:off x="2870200" y="2692400"/>
            <a:ext cx="6604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run</a:t>
            </a:r>
            <a:endParaRPr lang="en-US" sz="1200" dirty="0"/>
          </a:p>
        </p:txBody>
      </p:sp>
      <p:pic>
        <p:nvPicPr>
          <p:cNvPr id="18" name="Image 2" descr="connector">    </p:cNvPr>
          <p:cNvPicPr>
            <a:picLocks noChangeAspect="1"/>
          </p:cNvPicPr>
          <p:nvPr/>
        </p:nvPicPr>
        <p:blipFill>
          <a:blip r:embed="rId3"/>
          <a:srcRect l="0" r="0" t="0" b="0"/>
          <a:stretch/>
        </p:blipFill>
        <p:spPr>
          <a:xfrm>
            <a:off x="1276350" y="3263900"/>
            <a:ext cx="127000" cy="736600"/>
          </a:xfrm>
          <a:prstGeom prst="rect">
            <a:avLst/>
          </a:prstGeom>
        </p:spPr>
      </p:pic>
      <p:pic>
        <p:nvPicPr>
          <p:cNvPr id="19" name="Image 3" descr="connector">    </p:cNvPr>
          <p:cNvPicPr>
            <a:picLocks noChangeAspect="1"/>
          </p:cNvPicPr>
          <p:nvPr/>
        </p:nvPicPr>
        <p:blipFill>
          <a:blip r:embed="rId4"/>
          <a:srcRect l="0" r="0" t="0" b="0"/>
          <a:stretch/>
        </p:blipFill>
        <p:spPr>
          <a:xfrm>
            <a:off x="3752850" y="3263900"/>
            <a:ext cx="127000" cy="736600"/>
          </a:xfrm>
          <a:prstGeom prst="rect">
            <a:avLst/>
          </a:prstGeom>
        </p:spPr>
      </p:pic>
      <p:sp>
        <p:nvSpPr>
          <p:cNvPr id="20" name="Text 14"/>
          <p:cNvSpPr/>
          <p:nvPr/>
        </p:nvSpPr>
        <p:spPr>
          <a:xfrm>
            <a:off x="1435100" y="3517900"/>
            <a:ext cx="939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70C"/>
                </a:solidFill>
                <a:latin typeface="IBM Plex Sans" pitchFamily="34" charset="0"/>
                <a:ea typeface="IBM Plex Sans" pitchFamily="34" charset="-122"/>
                <a:cs typeface="IBM Plex Sans" pitchFamily="34" charset="-120"/>
              </a:rPr>
              <a:t>headway</a:t>
            </a:r>
            <a:endParaRPr lang="en-US" sz="1200" dirty="0"/>
          </a:p>
        </p:txBody>
      </p:sp>
      <p:sp>
        <p:nvSpPr>
          <p:cNvPr id="21" name="Text 15"/>
          <p:cNvSpPr/>
          <p:nvPr/>
        </p:nvSpPr>
        <p:spPr>
          <a:xfrm>
            <a:off x="996950" y="3943350"/>
            <a:ext cx="685800" cy="393700"/>
          </a:xfrm>
          <a:prstGeom prst="roundRect">
            <a:avLst>
              <a:gd name="adj" fmla="val 17742"/>
            </a:avLst>
          </a:prstGeom>
          <a:solidFill>
            <a:srgbClr val="EEF1F5"/>
          </a:solidFill>
          <a:ln w="12700">
            <a:solidFill>
              <a:srgbClr val="14213D"/>
            </a:solidFill>
            <a:prstDash val="solid"/>
          </a:ln>
        </p:spPr>
        <p:txBody>
          <a:bodyPr wrap="square" lIns="0" tIns="0" rIns="0" bIns="0"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Arr A</a:t>
            </a:r>
            <a:endParaRPr lang="en-US" sz="1200" dirty="0"/>
          </a:p>
        </p:txBody>
      </p:sp>
      <p:sp>
        <p:nvSpPr>
          <p:cNvPr id="22" name="Text 16"/>
          <p:cNvSpPr/>
          <p:nvPr/>
        </p:nvSpPr>
        <p:spPr>
          <a:xfrm>
            <a:off x="2235200" y="3943350"/>
            <a:ext cx="685800" cy="393700"/>
          </a:xfrm>
          <a:prstGeom prst="roundRect">
            <a:avLst>
              <a:gd name="adj" fmla="val 17742"/>
            </a:avLst>
          </a:prstGeom>
          <a:solidFill>
            <a:srgbClr val="EEF1F5"/>
          </a:solidFill>
          <a:ln w="12700">
            <a:solidFill>
              <a:srgbClr val="14213D"/>
            </a:solidFill>
            <a:prstDash val="solid"/>
          </a:ln>
        </p:spPr>
        <p:txBody>
          <a:bodyPr wrap="square" lIns="0" tIns="0" rIns="0" bIns="0"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Dep A</a:t>
            </a:r>
            <a:endParaRPr lang="en-US" sz="1200" dirty="0"/>
          </a:p>
        </p:txBody>
      </p:sp>
      <p:sp>
        <p:nvSpPr>
          <p:cNvPr id="23" name="Text 17"/>
          <p:cNvSpPr/>
          <p:nvPr/>
        </p:nvSpPr>
        <p:spPr>
          <a:xfrm>
            <a:off x="3473450" y="3943350"/>
            <a:ext cx="685800" cy="393700"/>
          </a:xfrm>
          <a:prstGeom prst="roundRect">
            <a:avLst>
              <a:gd name="adj" fmla="val 17742"/>
            </a:avLst>
          </a:prstGeom>
          <a:solidFill>
            <a:srgbClr val="EEF1F5"/>
          </a:solidFill>
          <a:ln w="12700">
            <a:solidFill>
              <a:srgbClr val="14213D"/>
            </a:solidFill>
            <a:prstDash val="solid"/>
          </a:ln>
        </p:spPr>
        <p:txBody>
          <a:bodyPr wrap="square" lIns="0" tIns="0" rIns="0" bIns="0"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Arr B</a:t>
            </a:r>
            <a:endParaRPr lang="en-US" sz="1200" dirty="0"/>
          </a:p>
        </p:txBody>
      </p:sp>
      <p:pic>
        <p:nvPicPr>
          <p:cNvPr id="24" name="Image 4" descr="connector">    </p:cNvPr>
          <p:cNvPicPr>
            <a:picLocks noChangeAspect="1"/>
          </p:cNvPicPr>
          <p:nvPr/>
        </p:nvPicPr>
        <p:blipFill>
          <a:blip r:embed="rId5"/>
          <a:srcRect l="0" r="0" t="0" b="0"/>
          <a:stretch/>
        </p:blipFill>
        <p:spPr>
          <a:xfrm>
            <a:off x="1625600" y="4076700"/>
            <a:ext cx="666750" cy="127000"/>
          </a:xfrm>
          <a:prstGeom prst="rect">
            <a:avLst/>
          </a:prstGeom>
        </p:spPr>
      </p:pic>
      <p:pic>
        <p:nvPicPr>
          <p:cNvPr id="25" name="Image 5" descr="connector">    </p:cNvPr>
          <p:cNvPicPr>
            <a:picLocks noChangeAspect="1"/>
          </p:cNvPicPr>
          <p:nvPr/>
        </p:nvPicPr>
        <p:blipFill>
          <a:blip r:embed="rId6"/>
          <a:srcRect l="0" r="0" t="0" b="0"/>
          <a:stretch/>
        </p:blipFill>
        <p:spPr>
          <a:xfrm>
            <a:off x="2863850" y="4076700"/>
            <a:ext cx="666750" cy="127000"/>
          </a:xfrm>
          <a:prstGeom prst="rect">
            <a:avLst/>
          </a:prstGeom>
        </p:spPr>
      </p:pic>
      <p:sp>
        <p:nvSpPr>
          <p:cNvPr id="26" name="Text 18"/>
          <p:cNvSpPr/>
          <p:nvPr/>
        </p:nvSpPr>
        <p:spPr>
          <a:xfrm>
            <a:off x="990600" y="4406900"/>
            <a:ext cx="1320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Train Y</a:t>
            </a:r>
            <a:endParaRPr lang="en-US" sz="1200" dirty="0"/>
          </a:p>
        </p:txBody>
      </p:sp>
      <p:sp>
        <p:nvSpPr>
          <p:cNvPr id="27" name="Text 19"/>
          <p:cNvSpPr/>
          <p:nvPr/>
        </p:nvSpPr>
        <p:spPr>
          <a:xfrm>
            <a:off x="990600" y="4749800"/>
            <a:ext cx="3466465" cy="43686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4A5568"/>
                </a:solidFill>
                <a:latin typeface="IBM Plex Sans" pitchFamily="34" charset="0"/>
                <a:ea typeface="IBM Plex Sans" pitchFamily="34" charset="-122"/>
                <a:cs typeface="IBM Plex Sans" pitchFamily="34" charset="-120"/>
              </a:rPr>
              <a:t>Dwell</a:t>
            </a:r>
            <a:r>
              <a:rPr lang="en-US" sz="1200" dirty="0">
                <a:solidFill>
                  <a:srgbClr val="4A5568"/>
                </a:solidFill>
                <a:latin typeface="IBM Plex Sans" pitchFamily="34" charset="0"/>
                <a:ea typeface="IBM Plex Sans" pitchFamily="34" charset="-122"/>
                <a:cs typeface="IBM Plex Sans" pitchFamily="34" charset="-120"/>
              </a:rPr>
              <a:t>: arrive → depart, same stop · </a:t>
            </a:r>
            <a:r>
              <a:rPr lang="en-US" sz="1200" b="1" dirty="0">
                <a:solidFill>
                  <a:srgbClr val="4A5568"/>
                </a:solidFill>
                <a:latin typeface="IBM Plex Sans" pitchFamily="34" charset="0"/>
                <a:ea typeface="IBM Plex Sans" pitchFamily="34" charset="-122"/>
                <a:cs typeface="IBM Plex Sans" pitchFamily="34" charset="-120"/>
              </a:rPr>
              <a:t>Run</a:t>
            </a:r>
            <a:r>
              <a:rPr lang="en-US" sz="1200" dirty="0">
                <a:solidFill>
                  <a:srgbClr val="4A5568"/>
                </a:solidFill>
                <a:latin typeface="IBM Plex Sans" pitchFamily="34" charset="0"/>
                <a:ea typeface="IBM Plex Sans" pitchFamily="34" charset="-122"/>
                <a:cs typeface="IBM Plex Sans" pitchFamily="34" charset="-120"/>
              </a:rPr>
              <a:t>: depart → next stop · </a:t>
            </a:r>
            <a:r>
              <a:rPr lang="en-US" sz="1200" b="1" dirty="0">
                <a:solidFill>
                  <a:srgbClr val="4A5568"/>
                </a:solidFill>
                <a:latin typeface="IBM Plex Sans" pitchFamily="34" charset="0"/>
                <a:ea typeface="IBM Plex Sans" pitchFamily="34" charset="-122"/>
                <a:cs typeface="IBM Plex Sans" pitchFamily="34" charset="-120"/>
              </a:rPr>
              <a:t>Headway</a:t>
            </a:r>
            <a:r>
              <a:rPr lang="en-US" sz="1200" dirty="0">
                <a:solidFill>
                  <a:srgbClr val="4A5568"/>
                </a:solidFill>
                <a:latin typeface="IBM Plex Sans" pitchFamily="34" charset="0"/>
                <a:ea typeface="IBM Plex Sans" pitchFamily="34" charset="-122"/>
                <a:cs typeface="IBM Plex Sans" pitchFamily="34" charset="-120"/>
              </a:rPr>
              <a:t>: next train, same stop</a:t>
            </a:r>
            <a:endParaRPr lang="en-US" sz="1200" dirty="0"/>
          </a:p>
        </p:txBody>
      </p:sp>
      <p:pic>
        <p:nvPicPr>
          <p:cNvPr id="28" name="Image 6" descr="connector">    </p:cNvPr>
          <p:cNvPicPr>
            <a:picLocks noChangeAspect="1"/>
          </p:cNvPicPr>
          <p:nvPr/>
        </p:nvPicPr>
        <p:blipFill>
          <a:blip r:embed="rId7"/>
          <a:srcRect l="0" r="0" t="0" b="0"/>
          <a:stretch/>
        </p:blipFill>
        <p:spPr>
          <a:xfrm>
            <a:off x="4381500" y="3556000"/>
            <a:ext cx="508000" cy="127000"/>
          </a:xfrm>
          <a:prstGeom prst="rect">
            <a:avLst/>
          </a:prstGeom>
        </p:spPr>
      </p:pic>
      <p:sp>
        <p:nvSpPr>
          <p:cNvPr id="29" name="Text 20"/>
          <p:cNvSpPr/>
          <p:nvPr/>
        </p:nvSpPr>
        <p:spPr>
          <a:xfrm>
            <a:off x="4953000" y="1968500"/>
            <a:ext cx="132080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7C7A"/>
                </a:solidFill>
                <a:latin typeface="IBM Plex Sans" pitchFamily="34" charset="0"/>
                <a:ea typeface="IBM Plex Sans" pitchFamily="34" charset="-122"/>
                <a:cs typeface="IBM Plex Sans" pitchFamily="34" charset="-120"/>
              </a:rPr>
              <a:t>2</a:t>
            </a:r>
            <a:r>
              <a:rPr lang="en-US" sz="1400" b="1" dirty="0">
                <a:solidFill>
                  <a:srgbClr val="14213D"/>
                </a:solidFill>
                <a:latin typeface="IBM Plex Sans" pitchFamily="34" charset="0"/>
                <a:ea typeface="IBM Plex Sans" pitchFamily="34" charset="-122"/>
                <a:cs typeface="IBM Plex Sans" pitchFamily="34" charset="-120"/>
              </a:rPr>
              <a:t> · GATv2 encoder</a:t>
            </a:r>
            <a:endParaRPr lang="en-US" sz="1400" dirty="0"/>
          </a:p>
        </p:txBody>
      </p:sp>
      <p:sp>
        <p:nvSpPr>
          <p:cNvPr id="30" name="Text 21"/>
          <p:cNvSpPr/>
          <p:nvPr/>
        </p:nvSpPr>
        <p:spPr>
          <a:xfrm>
            <a:off x="4953000" y="2667000"/>
            <a:ext cx="1206500" cy="508000"/>
          </a:xfrm>
          <a:prstGeom prst="roundRect">
            <a:avLst>
              <a:gd name="adj" fmla="val 15000"/>
            </a:avLst>
          </a:prstGeom>
          <a:solidFill>
            <a:srgbClr val="14213D"/>
          </a:solidFill>
          <a:ln/>
        </p:spPr>
        <p:txBody>
          <a:bodyPr wrap="square" lIns="0" tIns="0" rIns="0" bIns="0" rtlCol="0" anchor="ctr">
            <a:normAutofit/>
          </a:bodyPr>
          <a:lstStyle/>
          <a:p>
            <a:pPr algn="ctr" indent="0" marL="0">
              <a:lnSpc>
                <a:spcPts val="1680"/>
              </a:lnSpc>
              <a:buNone/>
            </a:pPr>
            <a:r>
              <a:rPr lang="en-US" sz="1200" dirty="0">
                <a:solidFill>
                  <a:srgbClr val="F4F2EC"/>
                </a:solidFill>
                <a:latin typeface="IBM Plex Sans" pitchFamily="34" charset="0"/>
                <a:ea typeface="IBM Plex Sans" pitchFamily="34" charset="-122"/>
                <a:cs typeface="IBM Plex Sans" pitchFamily="34" charset="-120"/>
              </a:rPr>
              <a:t>Attention 1</a:t>
            </a:r>
            <a:endParaRPr lang="en-US" sz="1200" dirty="0"/>
          </a:p>
        </p:txBody>
      </p:sp>
      <p:sp>
        <p:nvSpPr>
          <p:cNvPr id="31" name="Text 22"/>
          <p:cNvSpPr/>
          <p:nvPr/>
        </p:nvSpPr>
        <p:spPr>
          <a:xfrm>
            <a:off x="4953000" y="3365500"/>
            <a:ext cx="1206500" cy="508000"/>
          </a:xfrm>
          <a:prstGeom prst="roundRect">
            <a:avLst>
              <a:gd name="adj" fmla="val 15000"/>
            </a:avLst>
          </a:prstGeom>
          <a:solidFill>
            <a:srgbClr val="14213D"/>
          </a:solidFill>
          <a:ln/>
        </p:spPr>
        <p:txBody>
          <a:bodyPr wrap="square" lIns="0" tIns="0" rIns="0" bIns="0" rtlCol="0" anchor="ctr">
            <a:normAutofit/>
          </a:bodyPr>
          <a:lstStyle/>
          <a:p>
            <a:pPr algn="ctr" indent="0" marL="0">
              <a:lnSpc>
                <a:spcPts val="1680"/>
              </a:lnSpc>
              <a:buNone/>
            </a:pPr>
            <a:r>
              <a:rPr lang="en-US" sz="1200" dirty="0">
                <a:solidFill>
                  <a:srgbClr val="F4F2EC"/>
                </a:solidFill>
                <a:latin typeface="IBM Plex Sans" pitchFamily="34" charset="0"/>
                <a:ea typeface="IBM Plex Sans" pitchFamily="34" charset="-122"/>
                <a:cs typeface="IBM Plex Sans" pitchFamily="34" charset="-120"/>
              </a:rPr>
              <a:t>Attention 2</a:t>
            </a:r>
            <a:endParaRPr lang="en-US" sz="1200" dirty="0"/>
          </a:p>
        </p:txBody>
      </p:sp>
      <p:sp>
        <p:nvSpPr>
          <p:cNvPr id="32" name="Text 23"/>
          <p:cNvSpPr/>
          <p:nvPr/>
        </p:nvSpPr>
        <p:spPr>
          <a:xfrm>
            <a:off x="4953000" y="4064000"/>
            <a:ext cx="1206500" cy="508000"/>
          </a:xfrm>
          <a:prstGeom prst="roundRect">
            <a:avLst>
              <a:gd name="adj" fmla="val 15000"/>
            </a:avLst>
          </a:prstGeom>
          <a:solidFill>
            <a:srgbClr val="14213D"/>
          </a:solidFill>
          <a:ln/>
        </p:spPr>
        <p:txBody>
          <a:bodyPr wrap="square" lIns="0" tIns="0" rIns="0" bIns="0" rtlCol="0" anchor="ctr">
            <a:normAutofit/>
          </a:bodyPr>
          <a:lstStyle/>
          <a:p>
            <a:pPr algn="ctr" indent="0" marL="0">
              <a:lnSpc>
                <a:spcPts val="1680"/>
              </a:lnSpc>
              <a:buNone/>
            </a:pPr>
            <a:r>
              <a:rPr lang="en-US" sz="1200" dirty="0">
                <a:solidFill>
                  <a:srgbClr val="F4F2EC"/>
                </a:solidFill>
                <a:latin typeface="IBM Plex Sans" pitchFamily="34" charset="0"/>
                <a:ea typeface="IBM Plex Sans" pitchFamily="34" charset="-122"/>
                <a:cs typeface="IBM Plex Sans" pitchFamily="34" charset="-120"/>
              </a:rPr>
              <a:t>Attention 3</a:t>
            </a:r>
            <a:endParaRPr lang="en-US" sz="1200" dirty="0"/>
          </a:p>
        </p:txBody>
      </p:sp>
      <p:sp>
        <p:nvSpPr>
          <p:cNvPr id="33" name="Text 24"/>
          <p:cNvSpPr/>
          <p:nvPr/>
        </p:nvSpPr>
        <p:spPr>
          <a:xfrm>
            <a:off x="4953000" y="4699000"/>
            <a:ext cx="132080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learns which neighbours matter</a:t>
            </a:r>
            <a:endParaRPr lang="en-US" sz="1200" dirty="0"/>
          </a:p>
        </p:txBody>
      </p:sp>
      <p:pic>
        <p:nvPicPr>
          <p:cNvPr id="34" name="Image 7" descr="connector">    </p:cNvPr>
          <p:cNvPicPr>
            <a:picLocks noChangeAspect="1"/>
          </p:cNvPicPr>
          <p:nvPr/>
        </p:nvPicPr>
        <p:blipFill>
          <a:blip r:embed="rId8"/>
          <a:srcRect l="0" r="0" t="0" b="0"/>
          <a:stretch/>
        </p:blipFill>
        <p:spPr>
          <a:xfrm>
            <a:off x="6223000" y="2971800"/>
            <a:ext cx="635000" cy="127000"/>
          </a:xfrm>
          <a:prstGeom prst="rect">
            <a:avLst/>
          </a:prstGeom>
        </p:spPr>
      </p:pic>
      <p:sp>
        <p:nvSpPr>
          <p:cNvPr id="35" name="Text 25"/>
          <p:cNvSpPr/>
          <p:nvPr/>
        </p:nvSpPr>
        <p:spPr>
          <a:xfrm>
            <a:off x="6819900" y="1968500"/>
            <a:ext cx="235458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7C7A"/>
                </a:solidFill>
                <a:latin typeface="IBM Plex Sans" pitchFamily="34" charset="0"/>
                <a:ea typeface="IBM Plex Sans" pitchFamily="34" charset="-122"/>
                <a:cs typeface="IBM Plex Sans" pitchFamily="34" charset="-120"/>
              </a:rPr>
              <a:t>3</a:t>
            </a:r>
            <a:r>
              <a:rPr lang="en-US" sz="1400" b="1" dirty="0">
                <a:solidFill>
                  <a:srgbClr val="14213D"/>
                </a:solidFill>
                <a:latin typeface="IBM Plex Sans" pitchFamily="34" charset="0"/>
                <a:ea typeface="IBM Plex Sans" pitchFamily="34" charset="-122"/>
                <a:cs typeface="IBM Plex Sans" pitchFamily="34" charset="-120"/>
              </a:rPr>
              <a:t> · Head per horizon</a:t>
            </a:r>
            <a:endParaRPr lang="en-US" sz="1400" dirty="0"/>
          </a:p>
        </p:txBody>
      </p:sp>
      <p:sp>
        <p:nvSpPr>
          <p:cNvPr id="36" name="Text 26"/>
          <p:cNvSpPr/>
          <p:nvPr/>
        </p:nvSpPr>
        <p:spPr>
          <a:xfrm>
            <a:off x="6819900" y="2298700"/>
            <a:ext cx="493812" cy="264120"/>
          </a:xfrm>
          <a:custGeom>
            <a:avLst/>
            <a:gdLst/>
            <a:ahLst/>
            <a:cxnLst/>
            <a:rect l="l" t="t" r="r" b="b"/>
            <a:pathLst>
              <a:path w="493812" h="264120">
                <a:moveTo>
                  <a:pt x="127000" y="0"/>
                </a:moveTo>
                <a:lnTo>
                  <a:pt x="366812" y="0"/>
                </a:lnTo>
                <a:arcTo hR="127000" wR="127000" stAng="16200000" swAng="5400000"/>
                <a:lnTo>
                  <a:pt x="493812" y="137120"/>
                </a:lnTo>
                <a:arcTo hR="127000" wR="127000" stAng="0" swAng="5400000"/>
                <a:lnTo>
                  <a:pt x="127000" y="264120"/>
                </a:lnTo>
                <a:arcTo hR="127000" wR="127000" stAng="5400000" swAng="5400000"/>
                <a:lnTo>
                  <a:pt x="0" y="127000"/>
                </a:lnTo>
                <a:arcTo hR="127000" wR="127000" stAng="10800000" swAng="5400000"/>
                <a:close/>
              </a:path>
            </a:pathLst>
          </a:custGeom>
          <a:solidFill>
            <a:srgbClr val="0F7C7A"/>
          </a:solidFill>
          <a:ln/>
        </p:spPr>
        <p:txBody>
          <a:bodyPr wrap="none" lIns="0" tIns="0" rIns="0" bIns="0" rtlCol="0" anchor="ctr">
            <a:normAutofit/>
          </a:bodyPr>
          <a:lstStyle/>
          <a:p>
            <a:pPr algn="ctr" indent="0" marL="0">
              <a:lnSpc>
                <a:spcPts val="1680"/>
              </a:lnSpc>
              <a:buNone/>
            </a:pPr>
            <a:r>
              <a:rPr lang="en-US" sz="1200" b="1" dirty="0">
                <a:solidFill>
                  <a:srgbClr val="F4F2EC"/>
                </a:solidFill>
                <a:latin typeface="IBM Plex Sans" pitchFamily="34" charset="0"/>
                <a:ea typeface="IBM Plex Sans" pitchFamily="34" charset="-122"/>
                <a:cs typeface="IBM Plex Sans" pitchFamily="34" charset="-120"/>
              </a:rPr>
              <a:t>t+1</a:t>
            </a:r>
            <a:endParaRPr lang="en-US" sz="1200" dirty="0"/>
          </a:p>
        </p:txBody>
      </p:sp>
      <p:sp>
        <p:nvSpPr>
          <p:cNvPr id="37" name="Text 27"/>
          <p:cNvSpPr/>
          <p:nvPr/>
        </p:nvSpPr>
        <p:spPr>
          <a:xfrm>
            <a:off x="7389912" y="2298700"/>
            <a:ext cx="493812" cy="264120"/>
          </a:xfrm>
          <a:custGeom>
            <a:avLst/>
            <a:gdLst/>
            <a:ahLst/>
            <a:cxnLst/>
            <a:rect l="l" t="t" r="r" b="b"/>
            <a:pathLst>
              <a:path w="493812" h="264120">
                <a:moveTo>
                  <a:pt x="127000" y="0"/>
                </a:moveTo>
                <a:lnTo>
                  <a:pt x="366812" y="0"/>
                </a:lnTo>
                <a:arcTo hR="127000" wR="127000" stAng="16200000" swAng="5400000"/>
                <a:lnTo>
                  <a:pt x="493812" y="137120"/>
                </a:lnTo>
                <a:arcTo hR="127000" wR="127000" stAng="0" swAng="5400000"/>
                <a:lnTo>
                  <a:pt x="127000" y="264120"/>
                </a:lnTo>
                <a:arcTo hR="127000" wR="127000" stAng="5400000" swAng="5400000"/>
                <a:lnTo>
                  <a:pt x="0" y="127000"/>
                </a:lnTo>
                <a:arcTo hR="127000" wR="127000" stAng="10800000" swAng="5400000"/>
                <a:close/>
              </a:path>
            </a:pathLst>
          </a:custGeom>
          <a:solidFill>
            <a:srgbClr val="0F7C7A"/>
          </a:solidFill>
          <a:ln/>
        </p:spPr>
        <p:txBody>
          <a:bodyPr wrap="none" lIns="0" tIns="0" rIns="0" bIns="0" rtlCol="0" anchor="ctr">
            <a:normAutofit/>
          </a:bodyPr>
          <a:lstStyle/>
          <a:p>
            <a:pPr algn="ctr" indent="0" marL="0">
              <a:lnSpc>
                <a:spcPts val="1680"/>
              </a:lnSpc>
              <a:buNone/>
            </a:pPr>
            <a:r>
              <a:rPr lang="en-US" sz="1200" b="1" dirty="0">
                <a:solidFill>
                  <a:srgbClr val="F4F2EC"/>
                </a:solidFill>
                <a:latin typeface="IBM Plex Sans" pitchFamily="34" charset="0"/>
                <a:ea typeface="IBM Plex Sans" pitchFamily="34" charset="-122"/>
                <a:cs typeface="IBM Plex Sans" pitchFamily="34" charset="-120"/>
              </a:rPr>
              <a:t>t+2</a:t>
            </a:r>
            <a:endParaRPr lang="en-US" sz="1200" dirty="0"/>
          </a:p>
        </p:txBody>
      </p:sp>
      <p:sp>
        <p:nvSpPr>
          <p:cNvPr id="38" name="Text 28"/>
          <p:cNvSpPr/>
          <p:nvPr/>
        </p:nvSpPr>
        <p:spPr>
          <a:xfrm>
            <a:off x="7959923" y="2298700"/>
            <a:ext cx="493812" cy="264120"/>
          </a:xfrm>
          <a:custGeom>
            <a:avLst/>
            <a:gdLst/>
            <a:ahLst/>
            <a:cxnLst/>
            <a:rect l="l" t="t" r="r" b="b"/>
            <a:pathLst>
              <a:path w="493812" h="264120">
                <a:moveTo>
                  <a:pt x="127000" y="0"/>
                </a:moveTo>
                <a:lnTo>
                  <a:pt x="366812" y="0"/>
                </a:lnTo>
                <a:arcTo hR="127000" wR="127000" stAng="16200000" swAng="5400000"/>
                <a:lnTo>
                  <a:pt x="493812" y="137120"/>
                </a:lnTo>
                <a:arcTo hR="127000" wR="127000" stAng="0" swAng="5400000"/>
                <a:lnTo>
                  <a:pt x="127000" y="264120"/>
                </a:lnTo>
                <a:arcTo hR="127000" wR="127000" stAng="5400000" swAng="5400000"/>
                <a:lnTo>
                  <a:pt x="0" y="127000"/>
                </a:lnTo>
                <a:arcTo hR="127000" wR="127000" stAng="10800000" swAng="5400000"/>
                <a:close/>
              </a:path>
            </a:pathLst>
          </a:custGeom>
          <a:solidFill>
            <a:srgbClr val="0F7C7A"/>
          </a:solidFill>
          <a:ln/>
        </p:spPr>
        <p:txBody>
          <a:bodyPr wrap="none" lIns="0" tIns="0" rIns="0" bIns="0" rtlCol="0" anchor="ctr">
            <a:normAutofit/>
          </a:bodyPr>
          <a:lstStyle/>
          <a:p>
            <a:pPr algn="ctr" indent="0" marL="0">
              <a:lnSpc>
                <a:spcPts val="1680"/>
              </a:lnSpc>
              <a:buNone/>
            </a:pPr>
            <a:r>
              <a:rPr lang="en-US" sz="1200" b="1" dirty="0">
                <a:solidFill>
                  <a:srgbClr val="F4F2EC"/>
                </a:solidFill>
                <a:latin typeface="IBM Plex Sans" pitchFamily="34" charset="0"/>
                <a:ea typeface="IBM Plex Sans" pitchFamily="34" charset="-122"/>
                <a:cs typeface="IBM Plex Sans" pitchFamily="34" charset="-120"/>
              </a:rPr>
              <a:t>t+3</a:t>
            </a:r>
            <a:endParaRPr lang="en-US" sz="1200" dirty="0"/>
          </a:p>
        </p:txBody>
      </p:sp>
      <p:sp>
        <p:nvSpPr>
          <p:cNvPr id="39" name="Shape 29"/>
          <p:cNvSpPr/>
          <p:nvPr/>
        </p:nvSpPr>
        <p:spPr>
          <a:xfrm>
            <a:off x="6800850" y="2736850"/>
            <a:ext cx="1003300" cy="596900"/>
          </a:xfrm>
          <a:prstGeom prst="roundRect">
            <a:avLst>
              <a:gd name="adj" fmla="val 11702"/>
            </a:avLst>
          </a:prstGeom>
          <a:solidFill>
            <a:srgbClr val="FFFFFF"/>
          </a:solidFill>
          <a:ln w="12700">
            <a:solidFill>
              <a:srgbClr val="14213D"/>
            </a:solidFill>
            <a:prstDash val="solid"/>
          </a:ln>
        </p:spPr>
      </p:sp>
      <p:sp>
        <p:nvSpPr>
          <p:cNvPr id="40" name="Text 30"/>
          <p:cNvSpPr/>
          <p:nvPr/>
        </p:nvSpPr>
        <p:spPr>
          <a:xfrm>
            <a:off x="6858893" y="2813050"/>
            <a:ext cx="887164"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1 · Classify</a:t>
            </a:r>
            <a:endParaRPr lang="en-US" sz="1300" dirty="0"/>
          </a:p>
        </p:txBody>
      </p:sp>
      <p:sp>
        <p:nvSpPr>
          <p:cNvPr id="41" name="Text 31"/>
          <p:cNvSpPr/>
          <p:nvPr/>
        </p:nvSpPr>
        <p:spPr>
          <a:xfrm>
            <a:off x="7103249" y="3044180"/>
            <a:ext cx="39850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late?</a:t>
            </a:r>
            <a:endParaRPr lang="en-US" sz="1200" dirty="0"/>
          </a:p>
        </p:txBody>
      </p:sp>
      <p:pic>
        <p:nvPicPr>
          <p:cNvPr id="42" name="Image 8" descr="connector">    </p:cNvPr>
          <p:cNvPicPr>
            <a:picLocks noChangeAspect="1"/>
          </p:cNvPicPr>
          <p:nvPr/>
        </p:nvPicPr>
        <p:blipFill>
          <a:blip r:embed="rId9"/>
          <a:srcRect l="0" r="0" t="0" b="0"/>
          <a:stretch/>
        </p:blipFill>
        <p:spPr>
          <a:xfrm>
            <a:off x="7747000" y="2971800"/>
            <a:ext cx="355600" cy="127000"/>
          </a:xfrm>
          <a:prstGeom prst="rect">
            <a:avLst/>
          </a:prstGeom>
        </p:spPr>
      </p:pic>
      <p:sp>
        <p:nvSpPr>
          <p:cNvPr id="43" name="Text 32"/>
          <p:cNvSpPr/>
          <p:nvPr/>
        </p:nvSpPr>
        <p:spPr>
          <a:xfrm>
            <a:off x="7734300" y="2768600"/>
            <a:ext cx="3810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F7C7A"/>
                </a:solidFill>
                <a:latin typeface="IBM Plex Sans" pitchFamily="34" charset="0"/>
                <a:ea typeface="IBM Plex Sans" pitchFamily="34" charset="-122"/>
                <a:cs typeface="IBM Plex Sans" pitchFamily="34" charset="-120"/>
              </a:rPr>
              <a:t>yes</a:t>
            </a:r>
            <a:endParaRPr lang="en-US" sz="1200" dirty="0"/>
          </a:p>
        </p:txBody>
      </p:sp>
      <p:sp>
        <p:nvSpPr>
          <p:cNvPr id="44" name="Shape 33"/>
          <p:cNvSpPr/>
          <p:nvPr/>
        </p:nvSpPr>
        <p:spPr>
          <a:xfrm>
            <a:off x="8039100" y="2730500"/>
            <a:ext cx="1079500" cy="609600"/>
          </a:xfrm>
          <a:prstGeom prst="roundRect">
            <a:avLst>
              <a:gd name="adj" fmla="val 12500"/>
            </a:avLst>
          </a:prstGeom>
          <a:solidFill>
            <a:srgbClr val="0F7C7A"/>
          </a:solidFill>
          <a:ln/>
        </p:spPr>
      </p:sp>
      <p:sp>
        <p:nvSpPr>
          <p:cNvPr id="45" name="Text 34"/>
          <p:cNvSpPr/>
          <p:nvPr/>
        </p:nvSpPr>
        <p:spPr>
          <a:xfrm>
            <a:off x="8115300" y="2813050"/>
            <a:ext cx="927050"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F4F2EC"/>
                </a:solidFill>
                <a:latin typeface="IBM Plex Sans" pitchFamily="34" charset="0"/>
                <a:ea typeface="IBM Plex Sans" pitchFamily="34" charset="-122"/>
                <a:cs typeface="IBM Plex Sans" pitchFamily="34" charset="-120"/>
              </a:rPr>
              <a:t>2 · Regress</a:t>
            </a:r>
            <a:endParaRPr lang="en-US" sz="1300" dirty="0"/>
          </a:p>
        </p:txBody>
      </p:sp>
      <p:sp>
        <p:nvSpPr>
          <p:cNvPr id="46" name="Text 35"/>
          <p:cNvSpPr/>
          <p:nvPr/>
        </p:nvSpPr>
        <p:spPr>
          <a:xfrm>
            <a:off x="8185056" y="3044180"/>
            <a:ext cx="787539"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4F2EC"/>
                </a:solidFill>
                <a:latin typeface="IBM Plex Sans" pitchFamily="34" charset="0"/>
                <a:ea typeface="IBM Plex Sans" pitchFamily="34" charset="-122"/>
                <a:cs typeface="IBM Plex Sans" pitchFamily="34" charset="-120"/>
              </a:rPr>
              <a:t>how late?</a:t>
            </a:r>
            <a:endParaRPr lang="en-US" sz="1200" dirty="0"/>
          </a:p>
        </p:txBody>
      </p:sp>
      <p:pic>
        <p:nvPicPr>
          <p:cNvPr id="47" name="Image 9" descr="connector">    </p:cNvPr>
          <p:cNvPicPr>
            <a:picLocks noChangeAspect="1"/>
          </p:cNvPicPr>
          <p:nvPr/>
        </p:nvPicPr>
        <p:blipFill>
          <a:blip r:embed="rId10"/>
          <a:srcRect l="0" r="0" t="0" b="0"/>
          <a:stretch/>
        </p:blipFill>
        <p:spPr>
          <a:xfrm>
            <a:off x="7239000" y="3276600"/>
            <a:ext cx="127000" cy="571500"/>
          </a:xfrm>
          <a:prstGeom prst="rect">
            <a:avLst/>
          </a:prstGeom>
        </p:spPr>
      </p:pic>
      <p:sp>
        <p:nvSpPr>
          <p:cNvPr id="48" name="Text 36"/>
          <p:cNvSpPr/>
          <p:nvPr/>
        </p:nvSpPr>
        <p:spPr>
          <a:xfrm>
            <a:off x="7366000" y="3441700"/>
            <a:ext cx="368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IBM Plex Sans" pitchFamily="34" charset="0"/>
                <a:ea typeface="IBM Plex Sans" pitchFamily="34" charset="-122"/>
                <a:cs typeface="IBM Plex Sans" pitchFamily="34" charset="-120"/>
              </a:rPr>
              <a:t>no</a:t>
            </a:r>
            <a:endParaRPr lang="en-US" sz="1200" dirty="0"/>
          </a:p>
        </p:txBody>
      </p:sp>
      <p:pic>
        <p:nvPicPr>
          <p:cNvPr id="49" name="Image 10" descr="connector">    </p:cNvPr>
          <p:cNvPicPr>
            <a:picLocks noChangeAspect="1"/>
          </p:cNvPicPr>
          <p:nvPr/>
        </p:nvPicPr>
        <p:blipFill>
          <a:blip r:embed="rId11"/>
          <a:srcRect l="0" r="0" t="0" b="0"/>
          <a:stretch/>
        </p:blipFill>
        <p:spPr>
          <a:xfrm>
            <a:off x="8515350" y="3276600"/>
            <a:ext cx="127000" cy="571500"/>
          </a:xfrm>
          <a:prstGeom prst="rect">
            <a:avLst/>
          </a:prstGeom>
        </p:spPr>
      </p:pic>
      <p:sp>
        <p:nvSpPr>
          <p:cNvPr id="50" name="Text 37"/>
          <p:cNvSpPr/>
          <p:nvPr/>
        </p:nvSpPr>
        <p:spPr>
          <a:xfrm>
            <a:off x="6800850" y="3816350"/>
            <a:ext cx="1003300" cy="393700"/>
          </a:xfrm>
          <a:prstGeom prst="roundRect">
            <a:avLst>
              <a:gd name="adj" fmla="val 17742"/>
            </a:avLst>
          </a:prstGeom>
          <a:solidFill>
            <a:srgbClr val="FFFFFF"/>
          </a:solidFill>
          <a:ln w="12700">
            <a:solidFill>
              <a:srgbClr val="8A94A6"/>
            </a:solidFill>
            <a:prstDash val="solid"/>
          </a:ln>
        </p:spPr>
        <p:txBody>
          <a:bodyPr wrap="square" lIns="0" tIns="0" rIns="0" bIns="0"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ŷ = 0 (skip)</a:t>
            </a:r>
            <a:endParaRPr lang="en-US" sz="1200" dirty="0"/>
          </a:p>
        </p:txBody>
      </p:sp>
      <p:sp>
        <p:nvSpPr>
          <p:cNvPr id="51" name="Text 38"/>
          <p:cNvSpPr/>
          <p:nvPr/>
        </p:nvSpPr>
        <p:spPr>
          <a:xfrm>
            <a:off x="8045450" y="3816350"/>
            <a:ext cx="1066800" cy="393700"/>
          </a:xfrm>
          <a:prstGeom prst="roundRect">
            <a:avLst>
              <a:gd name="adj" fmla="val 17742"/>
            </a:avLst>
          </a:prstGeom>
          <a:solidFill>
            <a:srgbClr val="FFFFFF"/>
          </a:solidFill>
          <a:ln w="12700">
            <a:solidFill>
              <a:srgbClr val="0F7C7A"/>
            </a:solidFill>
            <a:prstDash val="solid"/>
          </a:ln>
        </p:spPr>
        <p:txBody>
          <a:bodyPr wrap="square" lIns="0" tIns="0" rIns="0" bIns="0" rtlCol="0" anchor="ctr">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ŷ = minutes</a:t>
            </a:r>
            <a:endParaRPr lang="en-US" sz="1200" dirty="0"/>
          </a:p>
        </p:txBody>
      </p:sp>
      <p:sp>
        <p:nvSpPr>
          <p:cNvPr id="52" name="Text 39"/>
          <p:cNvSpPr/>
          <p:nvPr/>
        </p:nvSpPr>
        <p:spPr>
          <a:xfrm>
            <a:off x="6819900" y="4381500"/>
            <a:ext cx="2354580"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Same head for t+1, t+2, t+3, all predicted in parallel, </a:t>
            </a:r>
            <a:r>
              <a:rPr lang="en-US" sz="1200" b="1" dirty="0">
                <a:solidFill>
                  <a:srgbClr val="4A5568"/>
                </a:solidFill>
                <a:latin typeface="IBM Plex Sans" pitchFamily="34" charset="0"/>
                <a:ea typeface="IBM Plex Sans" pitchFamily="34" charset="-122"/>
                <a:cs typeface="IBM Plex Sans" pitchFamily="34" charset="-120"/>
              </a:rPr>
              <a:t>no feedback</a:t>
            </a:r>
            <a:endParaRPr lang="en-US" sz="1200" dirty="0"/>
          </a:p>
        </p:txBody>
      </p:sp>
      <p:pic>
        <p:nvPicPr>
          <p:cNvPr id="53" name="Image 11" descr="connector">    </p:cNvPr>
          <p:cNvPicPr>
            <a:picLocks noChangeAspect="1"/>
          </p:cNvPicPr>
          <p:nvPr/>
        </p:nvPicPr>
        <p:blipFill>
          <a:blip r:embed="rId12"/>
          <a:srcRect l="0" r="0" t="0" b="0"/>
          <a:stretch/>
        </p:blipFill>
        <p:spPr>
          <a:xfrm>
            <a:off x="9144000" y="3556000"/>
            <a:ext cx="444500" cy="127000"/>
          </a:xfrm>
          <a:prstGeom prst="rect">
            <a:avLst/>
          </a:prstGeom>
        </p:spPr>
      </p:pic>
      <p:sp>
        <p:nvSpPr>
          <p:cNvPr id="54" name="Text 40"/>
          <p:cNvSpPr/>
          <p:nvPr/>
        </p:nvSpPr>
        <p:spPr>
          <a:xfrm>
            <a:off x="9652000" y="1968500"/>
            <a:ext cx="17018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7C7A"/>
                </a:solidFill>
                <a:latin typeface="IBM Plex Sans" pitchFamily="34" charset="0"/>
                <a:ea typeface="IBM Plex Sans" pitchFamily="34" charset="-122"/>
                <a:cs typeface="IBM Plex Sans" pitchFamily="34" charset="-120"/>
              </a:rPr>
              <a:t>4</a:t>
            </a:r>
            <a:r>
              <a:rPr lang="en-US" sz="1400" b="1" dirty="0">
                <a:solidFill>
                  <a:srgbClr val="14213D"/>
                </a:solidFill>
                <a:latin typeface="IBM Plex Sans" pitchFamily="34" charset="0"/>
                <a:ea typeface="IBM Plex Sans" pitchFamily="34" charset="-122"/>
                <a:cs typeface="IBM Plex Sans" pitchFamily="34" charset="-120"/>
              </a:rPr>
              <a:t> · Weighted blend</a:t>
            </a:r>
            <a:endParaRPr lang="en-US" sz="1400" dirty="0"/>
          </a:p>
        </p:txBody>
      </p:sp>
      <p:sp>
        <p:nvSpPr>
          <p:cNvPr id="55" name="Shape 41"/>
          <p:cNvSpPr/>
          <p:nvPr/>
        </p:nvSpPr>
        <p:spPr>
          <a:xfrm>
            <a:off x="9652000" y="2476500"/>
            <a:ext cx="1600200" cy="1270000"/>
          </a:xfrm>
          <a:prstGeom prst="roundRect">
            <a:avLst>
              <a:gd name="adj" fmla="val 7000"/>
            </a:avLst>
          </a:prstGeom>
          <a:solidFill>
            <a:srgbClr val="0F7C7A"/>
          </a:solidFill>
          <a:ln/>
        </p:spPr>
      </p:sp>
      <p:sp>
        <p:nvSpPr>
          <p:cNvPr id="56" name="Text 42"/>
          <p:cNvSpPr/>
          <p:nvPr/>
        </p:nvSpPr>
        <p:spPr>
          <a:xfrm>
            <a:off x="10163790" y="2748310"/>
            <a:ext cx="576620"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4F2EC"/>
                </a:solidFill>
                <a:latin typeface="IBM Plex Sans" pitchFamily="34" charset="0"/>
                <a:ea typeface="IBM Plex Sans" pitchFamily="34" charset="-122"/>
                <a:cs typeface="IBM Plex Sans" pitchFamily="34" charset="-120"/>
              </a:rPr>
              <a:t>Blend</a:t>
            </a:r>
            <a:endParaRPr lang="en-US" sz="1400" dirty="0"/>
          </a:p>
        </p:txBody>
      </p:sp>
      <p:sp>
        <p:nvSpPr>
          <p:cNvPr id="57" name="Text 43"/>
          <p:cNvSpPr/>
          <p:nvPr/>
        </p:nvSpPr>
        <p:spPr>
          <a:xfrm>
            <a:off x="9728200" y="3048000"/>
            <a:ext cx="1447800" cy="452041"/>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4F2EC"/>
                </a:solidFill>
                <a:latin typeface="IBM Plex Sans" pitchFamily="34" charset="0"/>
                <a:ea typeface="IBM Plex Sans" pitchFamily="34" charset="-122"/>
                <a:cs typeface="IBM Plex Sans" pitchFamily="34" charset="-120"/>
              </a:rPr>
              <a:t>each event's up to 3 forecasts</a:t>
            </a:r>
            <a:endParaRPr lang="en-US" sz="1200" dirty="0"/>
          </a:p>
        </p:txBody>
      </p:sp>
      <p:sp>
        <p:nvSpPr>
          <p:cNvPr id="58" name="Text 44"/>
          <p:cNvSpPr/>
          <p:nvPr/>
        </p:nvSpPr>
        <p:spPr>
          <a:xfrm>
            <a:off x="9652000" y="3937000"/>
            <a:ext cx="170815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details on the next slide</a:t>
            </a:r>
            <a:endParaRPr lang="en-US" sz="1200" dirty="0"/>
          </a:p>
        </p:txBody>
      </p:sp>
      <p:sp>
        <p:nvSpPr>
          <p:cNvPr id="59" name="Shape 45"/>
          <p:cNvSpPr/>
          <p:nvPr/>
        </p:nvSpPr>
        <p:spPr>
          <a:xfrm>
            <a:off x="9652000" y="4546600"/>
            <a:ext cx="1600200" cy="711200"/>
          </a:xfrm>
          <a:prstGeom prst="roundRect">
            <a:avLst>
              <a:gd name="adj" fmla="val 12500"/>
            </a:avLst>
          </a:prstGeom>
          <a:solidFill>
            <a:srgbClr val="14213D"/>
          </a:solidFill>
          <a:ln/>
        </p:spPr>
      </p:sp>
      <p:sp>
        <p:nvSpPr>
          <p:cNvPr id="60" name="Text 46"/>
          <p:cNvSpPr/>
          <p:nvPr/>
        </p:nvSpPr>
        <p:spPr>
          <a:xfrm>
            <a:off x="9743326" y="4658370"/>
            <a:ext cx="1417499"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4F2EC"/>
                </a:solidFill>
                <a:latin typeface="IBM Plex Sans" pitchFamily="34" charset="0"/>
                <a:ea typeface="IBM Plex Sans" pitchFamily="34" charset="-122"/>
                <a:cs typeface="IBM Plex Sans" pitchFamily="34" charset="-120"/>
              </a:rPr>
              <a:t>Delay forecast</a:t>
            </a:r>
            <a:endParaRPr lang="en-US" sz="1400" dirty="0"/>
          </a:p>
        </p:txBody>
      </p:sp>
      <p:sp>
        <p:nvSpPr>
          <p:cNvPr id="61" name="Text 47"/>
          <p:cNvSpPr/>
          <p:nvPr/>
        </p:nvSpPr>
        <p:spPr>
          <a:xfrm>
            <a:off x="9652536" y="4932660"/>
            <a:ext cx="159912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CC6D6"/>
                </a:solidFill>
                <a:latin typeface="IBM Plex Sans" pitchFamily="34" charset="0"/>
                <a:ea typeface="IBM Plex Sans" pitchFamily="34" charset="-122"/>
                <a:cs typeface="IBM Plex Sans" pitchFamily="34" charset="-120"/>
              </a:rPr>
              <a:t>delayed? + minutes</a:t>
            </a:r>
            <a:endParaRPr lang="en-US" sz="1200" dirty="0"/>
          </a:p>
        </p:txBody>
      </p:sp>
      <p:sp>
        <p:nvSpPr>
          <p:cNvPr id="62" name="Text 48"/>
          <p:cNvSpPr/>
          <p:nvPr/>
        </p:nvSpPr>
        <p:spPr>
          <a:xfrm>
            <a:off x="812800" y="5537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Each head is a two-stage hurdle: classify whether the event is late, and only if so, regress how many minutes.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0F7C7A"/>
                </a:solidFill>
                <a:latin typeface="IBM Plex Sans" pitchFamily="34" charset="0"/>
                <a:ea typeface="IBM Plex Sans" pitchFamily="34" charset="-122"/>
                <a:cs typeface="IBM Plex Sans" pitchFamily="34" charset="-120"/>
              </a:rPr>
              <a:t>02 · WEIGHTED BLEND</a:t>
            </a:r>
            <a:endParaRPr lang="en-US" sz="1400" dirty="0"/>
          </a:p>
        </p:txBody>
      </p:sp>
      <p:sp>
        <p:nvSpPr>
          <p:cNvPr id="3" name="Text 1"/>
          <p:cNvSpPr/>
          <p:nvPr>
            <p:ph type="title"/>
          </p:nvPr>
        </p:nvSpPr>
        <p:spPr>
          <a:xfrm>
            <a:off x="812800" y="118869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Every event gets three predictions</a:t>
            </a:r>
            <a:endParaRPr lang="en-US" sz="3200" dirty="0"/>
          </a:p>
        </p:txBody>
      </p:sp>
      <p:pic>
        <p:nvPicPr>
          <p:cNvPr id="4" name="Image 0" descr="Equations 11 and 12: horizon weight equals one over its validation MAE divided by the sum over horizons; the final delay of event j is the weighted average of its available forecasts. Timeline of six train events E1 to E6. Event E5 receives three forecasts: a t+1 forecast from E4, a t+2 forecast from E3 and a t+3 forecast from E2. The three forecasts are blended into one final delay for E5.">    </p:cNvPr>
          <p:cNvPicPr>
            <a:picLocks noChangeAspect="1"/>
          </p:cNvPicPr>
          <p:nvPr/>
        </p:nvPicPr>
        <p:blipFill>
          <a:blip r:embed="rId1"/>
          <a:srcRect l="0" r="0" t="-17" b="-17"/>
          <a:stretch/>
        </p:blipFill>
        <p:spPr>
          <a:xfrm>
            <a:off x="812800" y="1905000"/>
            <a:ext cx="10566400" cy="3556000"/>
          </a:xfrm>
          <a:prstGeom prst="rect">
            <a:avLst/>
          </a:prstGeom>
        </p:spPr>
      </p:pic>
      <p:sp>
        <p:nvSpPr>
          <p:cNvPr id="5" name="Text 2"/>
          <p:cNvSpPr/>
          <p:nvPr/>
        </p:nvSpPr>
        <p:spPr>
          <a:xfrm>
            <a:off x="812800" y="5537200"/>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Each event predicts its next three events, so forecasts overlap. Events near the start of a trip get fewer (E2: one, E3: two); every later event gets all three.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0F7C7A"/>
                </a:solidFill>
                <a:latin typeface="IBM Plex Sans" pitchFamily="34" charset="0"/>
                <a:ea typeface="IBM Plex Sans" pitchFamily="34" charset="-122"/>
                <a:cs typeface="IBM Plex Sans" pitchFamily="34" charset="-120"/>
              </a:rPr>
              <a:t>03 · RESULTS</a:t>
            </a:r>
            <a:endParaRPr lang="en-US" sz="1400" dirty="0"/>
          </a:p>
        </p:txBody>
      </p:sp>
      <p:sp>
        <p:nvSpPr>
          <p:cNvPr id="3" name="Text 1"/>
          <p:cNvSpPr/>
          <p:nvPr>
            <p:ph type="title"/>
          </p:nvPr>
        </p:nvSpPr>
        <p:spPr>
          <a:xfrm>
            <a:off x="812800" y="121409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DMH error stays nearly flat across horizons</a:t>
            </a:r>
            <a:endParaRPr lang="en-US" sz="3200" dirty="0"/>
          </a:p>
        </p:txBody>
      </p:sp>
      <p:pic>
        <p:nvPicPr>
          <p:cNvPr id="4" name="Image 0" descr="Line chart of MAE in minutes by forecast horizon. Autoregressive GATv2 rises from 2.411 at t+1 to 2.861 at t+2 and 3.124 at t+3. DMH GATv2 goes from 2.645 to 2.703 to 2.751, 12 percent lower than autoregressive at t+3.">    </p:cNvPr>
          <p:cNvPicPr>
            <a:picLocks noChangeAspect="1"/>
          </p:cNvPicPr>
          <p:nvPr/>
        </p:nvPicPr>
        <p:blipFill>
          <a:blip r:embed="rId1"/>
          <a:srcRect l="0" r="0" t="0" b="0"/>
          <a:stretch/>
        </p:blipFill>
        <p:spPr>
          <a:xfrm>
            <a:off x="812800" y="1905000"/>
            <a:ext cx="6350000" cy="3556000"/>
          </a:xfrm>
          <a:prstGeom prst="rect">
            <a:avLst/>
          </a:prstGeom>
        </p:spPr>
      </p:pic>
      <p:sp>
        <p:nvSpPr>
          <p:cNvPr id="5" name="Shape 2"/>
          <p:cNvSpPr/>
          <p:nvPr/>
        </p:nvSpPr>
        <p:spPr>
          <a:xfrm>
            <a:off x="7366000" y="1905000"/>
            <a:ext cx="1943100" cy="1714500"/>
          </a:xfrm>
          <a:prstGeom prst="roundRect">
            <a:avLst>
              <a:gd name="adj" fmla="val 5926"/>
            </a:avLst>
          </a:prstGeom>
          <a:solidFill>
            <a:srgbClr val="DDF0EE"/>
          </a:solidFill>
          <a:ln/>
        </p:spPr>
      </p:sp>
      <p:sp>
        <p:nvSpPr>
          <p:cNvPr id="6" name="Text 3"/>
          <p:cNvSpPr/>
          <p:nvPr/>
        </p:nvSpPr>
        <p:spPr>
          <a:xfrm>
            <a:off x="7543800" y="2208560"/>
            <a:ext cx="1638300" cy="45209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0F7C7A"/>
                </a:solidFill>
                <a:latin typeface="Space Grotesk" pitchFamily="34" charset="0"/>
                <a:ea typeface="Space Grotesk" pitchFamily="34" charset="-122"/>
                <a:cs typeface="Space Grotesk" pitchFamily="34" charset="-120"/>
              </a:rPr>
              <a:t>+4%</a:t>
            </a:r>
            <a:endParaRPr lang="en-US" sz="3200" dirty="0"/>
          </a:p>
        </p:txBody>
      </p:sp>
      <p:sp>
        <p:nvSpPr>
          <p:cNvPr id="7" name="Text 4"/>
          <p:cNvSpPr/>
          <p:nvPr/>
        </p:nvSpPr>
        <p:spPr>
          <a:xfrm>
            <a:off x="7543800" y="2698750"/>
            <a:ext cx="1638300" cy="64259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4213D"/>
                </a:solidFill>
                <a:latin typeface="IBM Plex Sans" pitchFamily="34" charset="0"/>
                <a:ea typeface="IBM Plex Sans" pitchFamily="34" charset="-122"/>
                <a:cs typeface="IBM Plex Sans" pitchFamily="34" charset="-120"/>
              </a:rPr>
              <a:t>error growth</a:t>
            </a:r>
            <a:r>
              <a:rPr lang="en-US" sz="1200" dirty="0">
                <a:solidFill>
                  <a:srgbClr val="14213D"/>
                </a:solidFill>
                <a:latin typeface="IBM Plex Sans" pitchFamily="34" charset="0"/>
                <a:ea typeface="IBM Plex Sans" pitchFamily="34" charset="-122"/>
                <a:cs typeface="IBM Plex Sans" pitchFamily="34" charset="-120"/>
              </a:rPr>
              <a:t> from t+1 to t+3 (autoregressive: +30%)</a:t>
            </a:r>
            <a:endParaRPr lang="en-US" sz="1200" dirty="0"/>
          </a:p>
        </p:txBody>
      </p:sp>
      <p:sp>
        <p:nvSpPr>
          <p:cNvPr id="8" name="Shape 5"/>
          <p:cNvSpPr/>
          <p:nvPr/>
        </p:nvSpPr>
        <p:spPr>
          <a:xfrm>
            <a:off x="9436100" y="1905000"/>
            <a:ext cx="1943100" cy="1714500"/>
          </a:xfrm>
          <a:prstGeom prst="roundRect">
            <a:avLst>
              <a:gd name="adj" fmla="val 5926"/>
            </a:avLst>
          </a:prstGeom>
          <a:solidFill>
            <a:srgbClr val="DDF0EE"/>
          </a:solidFill>
          <a:ln/>
        </p:spPr>
      </p:sp>
      <p:sp>
        <p:nvSpPr>
          <p:cNvPr id="9" name="Text 6"/>
          <p:cNvSpPr/>
          <p:nvPr/>
        </p:nvSpPr>
        <p:spPr>
          <a:xfrm>
            <a:off x="9613900" y="2208560"/>
            <a:ext cx="1638300" cy="45209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0F7C7A"/>
                </a:solidFill>
                <a:latin typeface="Space Grotesk" pitchFamily="34" charset="0"/>
                <a:ea typeface="Space Grotesk" pitchFamily="34" charset="-122"/>
                <a:cs typeface="Space Grotesk" pitchFamily="34" charset="-120"/>
              </a:rPr>
              <a:t>−12%</a:t>
            </a:r>
            <a:endParaRPr lang="en-US" sz="3200" dirty="0"/>
          </a:p>
        </p:txBody>
      </p:sp>
      <p:sp>
        <p:nvSpPr>
          <p:cNvPr id="10" name="Text 7"/>
          <p:cNvSpPr/>
          <p:nvPr/>
        </p:nvSpPr>
        <p:spPr>
          <a:xfrm>
            <a:off x="9613900" y="2698750"/>
            <a:ext cx="1638300" cy="64259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4213D"/>
                </a:solidFill>
                <a:latin typeface="IBM Plex Sans" pitchFamily="34" charset="0"/>
                <a:ea typeface="IBM Plex Sans" pitchFamily="34" charset="-122"/>
                <a:cs typeface="IBM Plex Sans" pitchFamily="34" charset="-120"/>
              </a:rPr>
              <a:t>lower MAE at t+3</a:t>
            </a:r>
            <a:r>
              <a:rPr lang="en-US" sz="1200" dirty="0">
                <a:solidFill>
                  <a:srgbClr val="14213D"/>
                </a:solidFill>
                <a:latin typeface="IBM Plex Sans" pitchFamily="34" charset="0"/>
                <a:ea typeface="IBM Plex Sans" pitchFamily="34" charset="-122"/>
                <a:cs typeface="IBM Plex Sans" pitchFamily="34" charset="-120"/>
              </a:rPr>
              <a:t> (DMH 2.75 vs AR 3.12 min)</a:t>
            </a:r>
            <a:endParaRPr lang="en-US" sz="1200" dirty="0"/>
          </a:p>
        </p:txBody>
      </p:sp>
      <p:sp>
        <p:nvSpPr>
          <p:cNvPr id="11" name="Shape 8"/>
          <p:cNvSpPr/>
          <p:nvPr/>
        </p:nvSpPr>
        <p:spPr>
          <a:xfrm>
            <a:off x="7366000" y="3746500"/>
            <a:ext cx="1943100" cy="1714500"/>
          </a:xfrm>
          <a:prstGeom prst="roundRect">
            <a:avLst>
              <a:gd name="adj" fmla="val 5926"/>
            </a:avLst>
          </a:prstGeom>
          <a:solidFill>
            <a:srgbClr val="DDF0EE"/>
          </a:solidFill>
          <a:ln/>
        </p:spPr>
      </p:sp>
      <p:sp>
        <p:nvSpPr>
          <p:cNvPr id="12" name="Text 9"/>
          <p:cNvSpPr/>
          <p:nvPr/>
        </p:nvSpPr>
        <p:spPr>
          <a:xfrm>
            <a:off x="7543800" y="4152900"/>
            <a:ext cx="1638300" cy="45209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0F7C7A"/>
                </a:solidFill>
                <a:latin typeface="Space Grotesk" pitchFamily="34" charset="0"/>
                <a:ea typeface="Space Grotesk" pitchFamily="34" charset="-122"/>
                <a:cs typeface="Space Grotesk" pitchFamily="34" charset="-120"/>
              </a:rPr>
              <a:t>94.9%</a:t>
            </a:r>
            <a:endParaRPr lang="en-US" sz="3200" dirty="0"/>
          </a:p>
        </p:txBody>
      </p:sp>
      <p:sp>
        <p:nvSpPr>
          <p:cNvPr id="13" name="Text 10"/>
          <p:cNvSpPr/>
          <p:nvPr/>
        </p:nvSpPr>
        <p:spPr>
          <a:xfrm>
            <a:off x="7543800" y="4643090"/>
            <a:ext cx="1638300" cy="43686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4213D"/>
                </a:solidFill>
                <a:latin typeface="IBM Plex Sans" pitchFamily="34" charset="0"/>
                <a:ea typeface="IBM Plex Sans" pitchFamily="34" charset="-122"/>
                <a:cs typeface="IBM Plex Sans" pitchFamily="34" charset="-120"/>
              </a:rPr>
              <a:t>precision,</a:t>
            </a:r>
            <a:r>
              <a:rPr lang="en-US" sz="1200" dirty="0">
                <a:solidFill>
                  <a:srgbClr val="14213D"/>
                </a:solidFill>
                <a:latin typeface="IBM Plex Sans" pitchFamily="34" charset="0"/>
                <a:ea typeface="IBM Plex Sans" pitchFamily="34" charset="-122"/>
                <a:cs typeface="IBM Plex Sans" pitchFamily="34" charset="-120"/>
              </a:rPr>
              <a:t> best of all models</a:t>
            </a:r>
            <a:endParaRPr lang="en-US" sz="1200" dirty="0"/>
          </a:p>
        </p:txBody>
      </p:sp>
      <p:sp>
        <p:nvSpPr>
          <p:cNvPr id="14" name="Shape 11"/>
          <p:cNvSpPr/>
          <p:nvPr/>
        </p:nvSpPr>
        <p:spPr>
          <a:xfrm>
            <a:off x="9436100" y="3746500"/>
            <a:ext cx="1943100" cy="1714500"/>
          </a:xfrm>
          <a:prstGeom prst="roundRect">
            <a:avLst>
              <a:gd name="adj" fmla="val 5926"/>
            </a:avLst>
          </a:prstGeom>
          <a:solidFill>
            <a:srgbClr val="DDF0EE"/>
          </a:solidFill>
          <a:ln/>
        </p:spPr>
      </p:sp>
      <p:sp>
        <p:nvSpPr>
          <p:cNvPr id="15" name="Text 12"/>
          <p:cNvSpPr/>
          <p:nvPr/>
        </p:nvSpPr>
        <p:spPr>
          <a:xfrm>
            <a:off x="9613900" y="4050060"/>
            <a:ext cx="1638300" cy="45209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0F7C7A"/>
                </a:solidFill>
                <a:latin typeface="Space Grotesk" pitchFamily="34" charset="0"/>
                <a:ea typeface="Space Grotesk" pitchFamily="34" charset="-122"/>
                <a:cs typeface="Space Grotesk" pitchFamily="34" charset="-120"/>
              </a:rPr>
              <a:t>+3.9</a:t>
            </a:r>
            <a:endParaRPr lang="en-US" sz="3200" dirty="0"/>
          </a:p>
        </p:txBody>
      </p:sp>
      <p:sp>
        <p:nvSpPr>
          <p:cNvPr id="16" name="Text 13"/>
          <p:cNvSpPr/>
          <p:nvPr/>
        </p:nvSpPr>
        <p:spPr>
          <a:xfrm>
            <a:off x="9613900" y="4540250"/>
            <a:ext cx="1638300" cy="64259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4213D"/>
                </a:solidFill>
                <a:latin typeface="IBM Plex Sans" pitchFamily="34" charset="0"/>
                <a:ea typeface="IBM Plex Sans" pitchFamily="34" charset="-122"/>
                <a:cs typeface="IBM Plex Sans" pitchFamily="34" charset="-120"/>
              </a:rPr>
              <a:t>recall points</a:t>
            </a:r>
            <a:r>
              <a:rPr lang="en-US" sz="1200" dirty="0">
                <a:solidFill>
                  <a:srgbClr val="14213D"/>
                </a:solidFill>
                <a:latin typeface="IBM Plex Sans" pitchFamily="34" charset="0"/>
                <a:ea typeface="IBM Plex Sans" pitchFamily="34" charset="-122"/>
                <a:cs typeface="IBM Plex Sans" pitchFamily="34" charset="-120"/>
              </a:rPr>
              <a:t> over autoregressive (93.8% vs 89.9%)</a:t>
            </a:r>
            <a:endParaRPr lang="en-US" sz="1200" dirty="0"/>
          </a:p>
        </p:txBody>
      </p:sp>
      <p:sp>
        <p:nvSpPr>
          <p:cNvPr id="17" name="Text 14"/>
          <p:cNvSpPr/>
          <p:nvPr/>
        </p:nvSpPr>
        <p:spPr>
          <a:xfrm>
            <a:off x="812800" y="5588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Trade-off: at t+1 the autoregressive model is slightly better (2.41 vs 2.65 min); DMH wins from t+2 onward. Validation results.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0F7C7A"/>
                </a:solidFill>
                <a:latin typeface="IBM Plex Sans" pitchFamily="34" charset="0"/>
                <a:ea typeface="IBM Plex Sans" pitchFamily="34" charset="-122"/>
                <a:cs typeface="IBM Plex Sans" pitchFamily="34" charset="-120"/>
              </a:rPr>
              <a:t>03 · OVERALL PERFORMANCE</a:t>
            </a:r>
            <a:endParaRPr lang="en-US" sz="1400" dirty="0"/>
          </a:p>
        </p:txBody>
      </p:sp>
      <p:sp>
        <p:nvSpPr>
          <p:cNvPr id="3" name="Text 1"/>
          <p:cNvSpPr/>
          <p:nvPr>
            <p:ph type="title"/>
          </p:nvPr>
        </p:nvSpPr>
        <p:spPr>
          <a:xfrm>
            <a:off x="812800" y="129029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DMH detects delays best of all models</a:t>
            </a:r>
            <a:endParaRPr lang="en-US" sz="3200" dirty="0"/>
          </a:p>
        </p:txBody>
      </p:sp>
      <p:sp>
        <p:nvSpPr>
          <p:cNvPr id="4" name="Shape 2"/>
          <p:cNvSpPr/>
          <p:nvPr/>
        </p:nvSpPr>
        <p:spPr>
          <a:xfrm>
            <a:off x="812800" y="1965920"/>
            <a:ext cx="10566400" cy="1949103"/>
          </a:xfrm>
          <a:prstGeom prst="roundRect">
            <a:avLst>
              <a:gd name="adj" fmla="val 3909"/>
            </a:avLst>
          </a:prstGeom>
          <a:solidFill>
            <a:srgbClr val="FFFFFF"/>
          </a:solidFill>
          <a:ln/>
        </p:spPr>
      </p:sp>
      <p:sp>
        <p:nvSpPr>
          <p:cNvPr id="5" name="Shape 3"/>
          <p:cNvSpPr/>
          <p:nvPr/>
        </p:nvSpPr>
        <p:spPr>
          <a:xfrm>
            <a:off x="812800" y="1965920"/>
            <a:ext cx="10566400" cy="1949103"/>
          </a:xfrm>
          <a:custGeom>
            <a:avLst/>
            <a:gdLst/>
            <a:ahLst/>
            <a:cxnLst/>
            <a:rect l="l" t="t" r="r" b="b"/>
            <a:pathLst>
              <a:path w="10566400" h="1949103">
                <a:moveTo>
                  <a:pt x="10490200" y="0"/>
                </a:moveTo>
                <a:lnTo>
                  <a:pt x="10490200" y="0"/>
                </a:lnTo>
                <a:arcTo hR="76200" wR="76200" stAng="16200000" swAng="5400000"/>
                <a:lnTo>
                  <a:pt x="10566400" y="1872903"/>
                </a:lnTo>
                <a:arcTo hR="76200" wR="76200" stAng="0" swAng="5400000"/>
                <a:lnTo>
                  <a:pt x="76200" y="1949103"/>
                </a:lnTo>
                <a:arcTo hR="76200" wR="76200" stAng="5400000" swAng="5400000"/>
                <a:lnTo>
                  <a:pt x="0" y="1872903"/>
                </a:lnTo>
                <a:arcTo hR="69850" wR="76200" stAng="10800000" swAng="-5400000"/>
                <a:lnTo>
                  <a:pt x="10490200" y="1942753"/>
                </a:lnTo>
                <a:arcTo hR="69850" wR="69850" stAng="5400000" swAng="-5400000"/>
                <a:lnTo>
                  <a:pt x="10560050" y="76200"/>
                </a:lnTo>
                <a:arcTo hR="76200" wR="69850" stAng="0" swAng="-5400000"/>
                <a:close/>
              </a:path>
            </a:pathLst>
          </a:custGeom>
          <a:solidFill>
            <a:srgbClr val="C9CFD8"/>
          </a:solidFill>
          <a:ln/>
        </p:spPr>
      </p:sp>
      <p:sp>
        <p:nvSpPr>
          <p:cNvPr id="6" name="Shape 4"/>
          <p:cNvSpPr/>
          <p:nvPr/>
        </p:nvSpPr>
        <p:spPr>
          <a:xfrm>
            <a:off x="812800" y="1965920"/>
            <a:ext cx="10566400" cy="1949103"/>
          </a:xfrm>
          <a:custGeom>
            <a:avLst/>
            <a:gdLst/>
            <a:ahLst/>
            <a:cxnLst/>
            <a:rect l="l" t="t" r="r" b="b"/>
            <a:pathLst>
              <a:path w="10566400" h="1949103">
                <a:moveTo>
                  <a:pt x="76200" y="1949103"/>
                </a:moveTo>
                <a:lnTo>
                  <a:pt x="76200" y="1949103"/>
                </a:lnTo>
                <a:arcTo hR="76200" wR="76200" stAng="5400000" swAng="5400000"/>
                <a:lnTo>
                  <a:pt x="0" y="76200"/>
                </a:lnTo>
                <a:arcTo hR="76200" wR="76200" stAng="10800000" swAng="5400000"/>
                <a:lnTo>
                  <a:pt x="10490200" y="0"/>
                </a:lnTo>
                <a:arcTo hR="76200" wR="76200" stAng="16200000" swAng="5400000"/>
                <a:lnTo>
                  <a:pt x="10566400" y="76200"/>
                </a:lnTo>
                <a:arcTo hR="63500" wR="76200" stAng="0" swAng="-5400000"/>
                <a:lnTo>
                  <a:pt x="76200" y="12700"/>
                </a:lnTo>
                <a:arcTo hR="63500" wR="63500" stAng="16200000" swAng="-5400000"/>
                <a:lnTo>
                  <a:pt x="12700" y="1872903"/>
                </a:lnTo>
                <a:arcTo hR="76200" wR="6350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978620"/>
          <a:ext cx="10547350" cy="1930053"/>
        </p:xfrm>
        <a:graphic>
          <a:graphicData uri="http://schemas.openxmlformats.org/drawingml/2006/table">
            <a:tbl>
              <a:tblPr/>
              <a:tblGrid>
                <a:gridCol w="3586099"/>
                <a:gridCol w="1160208"/>
                <a:gridCol w="1160208"/>
                <a:gridCol w="1160208"/>
                <a:gridCol w="1160208"/>
                <a:gridCol w="1160208"/>
                <a:gridCol w="1160208"/>
              </a:tblGrid>
              <a:tr h="386011">
                <a:tc>
                  <a:txBody>
                    <a:bodyPr/>
                    <a:lstStyle/>
                    <a:p>
                      <a:pPr indent="0" marL="0">
                        <a:lnSpc>
                          <a:spcPts val="1960"/>
                        </a:lnSpc>
                        <a:buNone/>
                      </a:pPr>
                      <a:r>
                        <a:rPr lang="en-US" sz="1400" b="1" dirty="0">
                          <a:solidFill>
                            <a:srgbClr val="F4F2EC"/>
                          </a:solidFill>
                          <a:latin typeface="IBM Plex Sans" pitchFamily="34" charset="0"/>
                          <a:ea typeface="IBM Plex Sans" pitchFamily="34" charset="-122"/>
                          <a:cs typeface="IBM Plex Sans" pitchFamily="34" charset="-120"/>
                        </a:rPr>
                        <a:t>Model</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141E34"/>
                      </a:solidFill>
                      <a:prstDash val="solid"/>
                      <a:round/>
                      <a:headEnd type="none" w="med" len="med"/>
                      <a:tailEnd type="none" w="med" len="med"/>
                    </a:lnR>
                    <a:lnT w="0" cap="flat" cmpd="sng" algn="ctr">
                      <a:noFill/>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960"/>
                        </a:lnSpc>
                        <a:buNone/>
                      </a:pPr>
                      <a:r>
                        <a:rPr lang="en-US" sz="1400" b="1" dirty="0">
                          <a:solidFill>
                            <a:srgbClr val="F4F2EC"/>
                          </a:solidFill>
                          <a:latin typeface="IBM Plex Sans" pitchFamily="34" charset="0"/>
                          <a:ea typeface="IBM Plex Sans" pitchFamily="34" charset="-122"/>
                          <a:cs typeface="IBM Plex Sans" pitchFamily="34" charset="-120"/>
                        </a:rPr>
                        <a:t>MAE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0" cap="flat" cmpd="sng" algn="ctr">
                      <a:noFill/>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960"/>
                        </a:lnSpc>
                        <a:buNone/>
                      </a:pPr>
                      <a:r>
                        <a:rPr lang="en-US" sz="1400" b="1" dirty="0">
                          <a:solidFill>
                            <a:srgbClr val="F4F2EC"/>
                          </a:solidFill>
                          <a:latin typeface="IBM Plex Sans" pitchFamily="34" charset="0"/>
                          <a:ea typeface="IBM Plex Sans" pitchFamily="34" charset="-122"/>
                          <a:cs typeface="IBM Plex Sans" pitchFamily="34" charset="-120"/>
                        </a:rPr>
                        <a:t>RMSE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0" cap="flat" cmpd="sng" algn="ctr">
                      <a:noFill/>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960"/>
                        </a:lnSpc>
                        <a:buNone/>
                      </a:pPr>
                      <a:r>
                        <a:rPr lang="en-US" sz="1400" b="1" dirty="0">
                          <a:solidFill>
                            <a:srgbClr val="F4F2EC"/>
                          </a:solidFill>
                          <a:latin typeface="IBM Plex Sans" pitchFamily="34" charset="0"/>
                          <a:ea typeface="IBM Plex Sans" pitchFamily="34" charset="-122"/>
                          <a:cs typeface="IBM Plex Sans" pitchFamily="34" charset="-120"/>
                        </a:rPr>
                        <a:t>Accuracy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0" cap="flat" cmpd="sng" algn="ctr">
                      <a:noFill/>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960"/>
                        </a:lnSpc>
                        <a:buNone/>
                      </a:pPr>
                      <a:r>
                        <a:rPr lang="en-US" sz="1400" b="1" dirty="0">
                          <a:solidFill>
                            <a:srgbClr val="F4F2EC"/>
                          </a:solidFill>
                          <a:latin typeface="IBM Plex Sans" pitchFamily="34" charset="0"/>
                          <a:ea typeface="IBM Plex Sans" pitchFamily="34" charset="-122"/>
                          <a:cs typeface="IBM Plex Sans" pitchFamily="34" charset="-120"/>
                        </a:rPr>
                        <a:t>Precision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0" cap="flat" cmpd="sng" algn="ctr">
                      <a:noFill/>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960"/>
                        </a:lnSpc>
                        <a:buNone/>
                      </a:pPr>
                      <a:r>
                        <a:rPr lang="en-US" sz="1400" b="1" dirty="0">
                          <a:solidFill>
                            <a:srgbClr val="F4F2EC"/>
                          </a:solidFill>
                          <a:latin typeface="IBM Plex Sans" pitchFamily="34" charset="0"/>
                          <a:ea typeface="IBM Plex Sans" pitchFamily="34" charset="-122"/>
                          <a:cs typeface="IBM Plex Sans" pitchFamily="34" charset="-120"/>
                        </a:rPr>
                        <a:t>Recall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0" cap="flat" cmpd="sng" algn="ctr">
                      <a:noFill/>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960"/>
                        </a:lnSpc>
                        <a:buNone/>
                      </a:pPr>
                      <a:r>
                        <a:rPr lang="en-US" sz="1400" b="1" dirty="0">
                          <a:solidFill>
                            <a:srgbClr val="F4F2EC"/>
                          </a:solidFill>
                          <a:latin typeface="IBM Plex Sans" pitchFamily="34" charset="0"/>
                          <a:ea typeface="IBM Plex Sans" pitchFamily="34" charset="-122"/>
                          <a:cs typeface="IBM Plex Sans" pitchFamily="34" charset="-120"/>
                        </a:rPr>
                        <a:t>F1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0" cap="flat" cmpd="sng" algn="ctr">
                      <a:noFill/>
                    </a:lnT>
                    <a:lnB w="12700" cap="flat" cmpd="sng" algn="ctr">
                      <a:solidFill>
                        <a:srgbClr val="141E34"/>
                      </a:solidFill>
                      <a:prstDash val="solid"/>
                      <a:round/>
                      <a:headEnd type="none" w="med" len="med"/>
                      <a:tailEnd type="none" w="med" len="med"/>
                    </a:lnB>
                    <a:solidFill>
                      <a:srgbClr val="14213D"/>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Zero-delay</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6A7179"/>
                          </a:solidFill>
                          <a:latin typeface="IBM Plex Sans" pitchFamily="34" charset="0"/>
                          <a:ea typeface="IBM Plex Sans" pitchFamily="34" charset="-122"/>
                          <a:cs typeface="IBM Plex Sans" pitchFamily="34" charset="-120"/>
                        </a:rPr>
                        <a:t>6.710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6A7179"/>
                          </a:solidFill>
                          <a:latin typeface="IBM Plex Sans" pitchFamily="34" charset="0"/>
                          <a:ea typeface="IBM Plex Sans" pitchFamily="34" charset="-122"/>
                          <a:cs typeface="IBM Plex Sans" pitchFamily="34" charset="-120"/>
                        </a:rPr>
                        <a:t>13.711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6A7179"/>
                          </a:solidFill>
                          <a:latin typeface="IBM Plex Sans" pitchFamily="34" charset="0"/>
                          <a:ea typeface="IBM Plex Sans" pitchFamily="34" charset="-122"/>
                          <a:cs typeface="IBM Plex Sans" pitchFamily="34" charset="-120"/>
                        </a:rPr>
                        <a:t>0.517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6A7179"/>
                          </a:solidFill>
                          <a:latin typeface="IBM Plex Sans" pitchFamily="34" charset="0"/>
                          <a:ea typeface="IBM Plex Sans" pitchFamily="34" charset="-122"/>
                          <a:cs typeface="IBM Plex Sans" pitchFamily="34" charset="-120"/>
                        </a:rPr>
                        <a:t>0.000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6A7179"/>
                          </a:solidFill>
                          <a:latin typeface="IBM Plex Sans" pitchFamily="34" charset="0"/>
                          <a:ea typeface="IBM Plex Sans" pitchFamily="34" charset="-122"/>
                          <a:cs typeface="IBM Plex Sans" pitchFamily="34" charset="-120"/>
                        </a:rPr>
                        <a:t>0.000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6A7179"/>
                          </a:solidFill>
                          <a:latin typeface="IBM Plex Sans" pitchFamily="34" charset="0"/>
                          <a:ea typeface="IBM Plex Sans" pitchFamily="34" charset="-122"/>
                          <a:cs typeface="IBM Plex Sans" pitchFamily="34" charset="-120"/>
                        </a:rPr>
                        <a:t>0.000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Persistence</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C2410C"/>
                          </a:solidFill>
                          <a:latin typeface="IBM Plex Sans" pitchFamily="34" charset="0"/>
                          <a:ea typeface="IBM Plex Sans" pitchFamily="34" charset="-122"/>
                          <a:cs typeface="IBM Plex Sans" pitchFamily="34" charset="-120"/>
                        </a:rPr>
                        <a:t>0.729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C2410C"/>
                          </a:solidFill>
                          <a:latin typeface="IBM Plex Sans" pitchFamily="34" charset="0"/>
                          <a:ea typeface="IBM Plex Sans" pitchFamily="34" charset="-122"/>
                          <a:cs typeface="IBM Plex Sans" pitchFamily="34" charset="-120"/>
                        </a:rPr>
                        <a:t>1.893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6A7179"/>
                          </a:solidFill>
                          <a:latin typeface="IBM Plex Sans" pitchFamily="34" charset="0"/>
                          <a:ea typeface="IBM Plex Sans" pitchFamily="34" charset="-122"/>
                          <a:cs typeface="IBM Plex Sans" pitchFamily="34" charset="-120"/>
                        </a:rPr>
                        <a:t>0.929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6A7179"/>
                          </a:solidFill>
                          <a:latin typeface="IBM Plex Sans" pitchFamily="34" charset="0"/>
                          <a:ea typeface="IBM Plex Sans" pitchFamily="34" charset="-122"/>
                          <a:cs typeface="IBM Plex Sans" pitchFamily="34" charset="-120"/>
                        </a:rPr>
                        <a:t>0.938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6A7179"/>
                          </a:solidFill>
                          <a:latin typeface="IBM Plex Sans" pitchFamily="34" charset="0"/>
                          <a:ea typeface="IBM Plex Sans" pitchFamily="34" charset="-122"/>
                          <a:cs typeface="IBM Plex Sans" pitchFamily="34" charset="-120"/>
                        </a:rPr>
                        <a:t>0.913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6A7179"/>
                          </a:solidFill>
                          <a:latin typeface="IBM Plex Sans" pitchFamily="34" charset="0"/>
                          <a:ea typeface="IBM Plex Sans" pitchFamily="34" charset="-122"/>
                          <a:cs typeface="IBM Plex Sans" pitchFamily="34" charset="-120"/>
                        </a:rPr>
                        <a:t>0.926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Autoregressive GATv2</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6A7179"/>
                          </a:solidFill>
                          <a:latin typeface="IBM Plex Sans" pitchFamily="34" charset="0"/>
                          <a:ea typeface="IBM Plex Sans" pitchFamily="34" charset="-122"/>
                          <a:cs typeface="IBM Plex Sans" pitchFamily="34" charset="-120"/>
                        </a:rPr>
                        <a:t>3.124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6A7179"/>
                          </a:solidFill>
                          <a:latin typeface="IBM Plex Sans" pitchFamily="34" charset="0"/>
                          <a:ea typeface="IBM Plex Sans" pitchFamily="34" charset="-122"/>
                          <a:cs typeface="IBM Plex Sans" pitchFamily="34" charset="-120"/>
                        </a:rPr>
                        <a:t>7.597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6A7179"/>
                          </a:solidFill>
                          <a:latin typeface="IBM Plex Sans" pitchFamily="34" charset="0"/>
                          <a:ea typeface="IBM Plex Sans" pitchFamily="34" charset="-122"/>
                          <a:cs typeface="IBM Plex Sans" pitchFamily="34" charset="-120"/>
                        </a:rPr>
                        <a:t>0.922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6A7179"/>
                          </a:solidFill>
                          <a:latin typeface="IBM Plex Sans" pitchFamily="34" charset="0"/>
                          <a:ea typeface="IBM Plex Sans" pitchFamily="34" charset="-122"/>
                          <a:cs typeface="IBM Plex Sans" pitchFamily="34" charset="-120"/>
                        </a:rPr>
                        <a:t>0.938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6A7179"/>
                          </a:solidFill>
                          <a:latin typeface="IBM Plex Sans" pitchFamily="34" charset="0"/>
                          <a:ea typeface="IBM Plex Sans" pitchFamily="34" charset="-122"/>
                          <a:cs typeface="IBM Plex Sans" pitchFamily="34" charset="-120"/>
                        </a:rPr>
                        <a:t>0.899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6A7179"/>
                          </a:solidFill>
                          <a:latin typeface="IBM Plex Sans" pitchFamily="34" charset="0"/>
                          <a:ea typeface="IBM Plex Sans" pitchFamily="34" charset="-122"/>
                          <a:cs typeface="IBM Plex Sans" pitchFamily="34" charset="-120"/>
                        </a:rPr>
                        <a:t>0.918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DMH GATv2 + aggregation (ours)</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6A7179"/>
                          </a:solidFill>
                          <a:latin typeface="IBM Plex Sans" pitchFamily="34" charset="0"/>
                          <a:ea typeface="IBM Plex Sans" pitchFamily="34" charset="-122"/>
                          <a:cs typeface="IBM Plex Sans" pitchFamily="34" charset="-120"/>
                        </a:rPr>
                        <a:t>2.560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6A7179"/>
                          </a:solidFill>
                          <a:latin typeface="IBM Plex Sans" pitchFamily="34" charset="0"/>
                          <a:ea typeface="IBM Plex Sans" pitchFamily="34" charset="-122"/>
                          <a:cs typeface="IBM Plex Sans" pitchFamily="34" charset="-120"/>
                        </a:rPr>
                        <a:t>6.914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C2410C"/>
                          </a:solidFill>
                          <a:latin typeface="IBM Plex Sans" pitchFamily="34" charset="0"/>
                          <a:ea typeface="IBM Plex Sans" pitchFamily="34" charset="-122"/>
                          <a:cs typeface="IBM Plex Sans" pitchFamily="34" charset="-120"/>
                        </a:rPr>
                        <a:t>0.946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C2410C"/>
                          </a:solidFill>
                          <a:latin typeface="IBM Plex Sans" pitchFamily="34" charset="0"/>
                          <a:ea typeface="IBM Plex Sans" pitchFamily="34" charset="-122"/>
                          <a:cs typeface="IBM Plex Sans" pitchFamily="34" charset="-120"/>
                        </a:rPr>
                        <a:t>0.949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C2410C"/>
                          </a:solidFill>
                          <a:latin typeface="IBM Plex Sans" pitchFamily="34" charset="0"/>
                          <a:ea typeface="IBM Plex Sans" pitchFamily="34" charset="-122"/>
                          <a:cs typeface="IBM Plex Sans" pitchFamily="34" charset="-120"/>
                        </a:rPr>
                        <a:t>0.938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960"/>
                        </a:lnSpc>
                        <a:buNone/>
                      </a:pPr>
                      <a:r>
                        <a:rPr lang="en-US" sz="1400" dirty="0">
                          <a:solidFill>
                            <a:srgbClr val="C2410C"/>
                          </a:solidFill>
                          <a:latin typeface="IBM Plex Sans" pitchFamily="34" charset="0"/>
                          <a:ea typeface="IBM Plex Sans" pitchFamily="34" charset="-122"/>
                          <a:cs typeface="IBM Plex Sans" pitchFamily="34" charset="-120"/>
                        </a:rPr>
                        <a:t>0.944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4143623"/>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Overall validation performance; MAE and RMSE in minutes. </a:t>
            </a:r>
            <a:r>
              <a:rPr lang="en-US" sz="1200" b="1" dirty="0">
                <a:solidFill>
                  <a:srgbClr val="6A7179"/>
                </a:solidFill>
                <a:latin typeface="IBM Plex Sans" pitchFamily="34" charset="0"/>
                <a:ea typeface="IBM Plex Sans" pitchFamily="34" charset="-122"/>
                <a:cs typeface="IBM Plex Sans" pitchFamily="34" charset="-120"/>
              </a:rPr>
              <a:t>Bold orange</a:t>
            </a:r>
            <a:r>
              <a:rPr lang="en-US" sz="1200" dirty="0">
                <a:solidFill>
                  <a:srgbClr val="6A7179"/>
                </a:solidFill>
                <a:latin typeface="IBM Plex Sans" pitchFamily="34" charset="0"/>
                <a:ea typeface="IBM Plex Sans" pitchFamily="34" charset="-122"/>
                <a:cs typeface="IBM Plex Sans" pitchFamily="34" charset="-120"/>
              </a:rPr>
              <a:t> = best value in each column.</a:t>
            </a:r>
            <a:endParaRPr lang="en-US" sz="1200" dirty="0"/>
          </a:p>
        </p:txBody>
      </p:sp>
      <p:sp>
        <p:nvSpPr>
          <p:cNvPr id="9" name="Shape 6"/>
          <p:cNvSpPr/>
          <p:nvPr/>
        </p:nvSpPr>
        <p:spPr>
          <a:xfrm>
            <a:off x="812800" y="4585543"/>
            <a:ext cx="5181600" cy="1191171"/>
          </a:xfrm>
          <a:prstGeom prst="rect">
            <a:avLst/>
          </a:prstGeom>
          <a:solidFill>
            <a:srgbClr val="FFFFFF"/>
          </a:solidFill>
          <a:ln/>
        </p:spPr>
      </p:sp>
      <p:sp>
        <p:nvSpPr>
          <p:cNvPr id="10" name="Shape 7"/>
          <p:cNvSpPr/>
          <p:nvPr/>
        </p:nvSpPr>
        <p:spPr>
          <a:xfrm>
            <a:off x="838200" y="4585543"/>
            <a:ext cx="0" cy="1191171"/>
          </a:xfrm>
          <a:prstGeom prst="line">
            <a:avLst/>
          </a:prstGeom>
          <a:noFill/>
          <a:ln w="50800">
            <a:solidFill>
              <a:srgbClr val="0F7C7A"/>
            </a:solidFill>
            <a:prstDash val="solid"/>
          </a:ln>
        </p:spPr>
      </p:sp>
      <p:sp>
        <p:nvSpPr>
          <p:cNvPr id="11" name="Text 8"/>
          <p:cNvSpPr/>
          <p:nvPr/>
        </p:nvSpPr>
        <p:spPr>
          <a:xfrm>
            <a:off x="1066800" y="4763343"/>
            <a:ext cx="486613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+3.9 recall points over autoregressive</a:t>
            </a:r>
            <a:endParaRPr lang="en-US" sz="1800" dirty="0"/>
          </a:p>
        </p:txBody>
      </p:sp>
      <p:sp>
        <p:nvSpPr>
          <p:cNvPr id="12" name="Text 9"/>
          <p:cNvSpPr/>
          <p:nvPr/>
        </p:nvSpPr>
        <p:spPr>
          <a:xfrm>
            <a:off x="1066800" y="5101134"/>
            <a:ext cx="486613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93.8% vs 89.9%: DMH misses fewer real delays.</a:t>
            </a:r>
            <a:endParaRPr lang="en-US" sz="1400" dirty="0"/>
          </a:p>
        </p:txBody>
      </p:sp>
      <p:sp>
        <p:nvSpPr>
          <p:cNvPr id="13" name="Shape 10"/>
          <p:cNvSpPr/>
          <p:nvPr/>
        </p:nvSpPr>
        <p:spPr>
          <a:xfrm>
            <a:off x="6197600" y="4585543"/>
            <a:ext cx="5181600" cy="1191171"/>
          </a:xfrm>
          <a:prstGeom prst="rect">
            <a:avLst/>
          </a:prstGeom>
          <a:solidFill>
            <a:srgbClr val="FFFFFF"/>
          </a:solidFill>
          <a:ln/>
        </p:spPr>
      </p:sp>
      <p:sp>
        <p:nvSpPr>
          <p:cNvPr id="14" name="Shape 11"/>
          <p:cNvSpPr/>
          <p:nvPr/>
        </p:nvSpPr>
        <p:spPr>
          <a:xfrm>
            <a:off x="6223000" y="4585543"/>
            <a:ext cx="0" cy="1191171"/>
          </a:xfrm>
          <a:prstGeom prst="line">
            <a:avLst/>
          </a:prstGeom>
          <a:noFill/>
          <a:ln w="50800">
            <a:solidFill>
              <a:srgbClr val="8A94A6"/>
            </a:solidFill>
            <a:prstDash val="solid"/>
          </a:ln>
        </p:spPr>
      </p:sp>
      <p:sp>
        <p:nvSpPr>
          <p:cNvPr id="15" name="Text 12"/>
          <p:cNvSpPr/>
          <p:nvPr/>
        </p:nvSpPr>
        <p:spPr>
          <a:xfrm>
            <a:off x="6451600" y="4763343"/>
            <a:ext cx="486613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Persistence still wins raw MAE</a:t>
            </a:r>
            <a:endParaRPr lang="en-US" sz="1800" dirty="0"/>
          </a:p>
        </p:txBody>
      </p:sp>
      <p:sp>
        <p:nvSpPr>
          <p:cNvPr id="16" name="Text 13"/>
          <p:cNvSpPr/>
          <p:nvPr/>
        </p:nvSpPr>
        <p:spPr>
          <a:xfrm>
            <a:off x="6451600" y="5101134"/>
            <a:ext cx="486613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Consecutive subway delays rarely jump, so "no change" is a strong guess.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2BB3A8"/>
          </a:solidFill>
          <a:ln/>
        </p:spPr>
      </p:sp>
      <p:sp>
        <p:nvSpPr>
          <p:cNvPr id="3" name="Text 1"/>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2BB3A8"/>
                </a:solidFill>
                <a:latin typeface="IBM Plex Sans" pitchFamily="34" charset="0"/>
                <a:ea typeface="IBM Plex Sans" pitchFamily="34" charset="-122"/>
                <a:cs typeface="IBM Plex Sans" pitchFamily="34" charset="-120"/>
              </a:rPr>
              <a:t>04 · CONCLUSION</a:t>
            </a:r>
            <a:endParaRPr lang="en-US" sz="1400" dirty="0"/>
          </a:p>
        </p:txBody>
      </p:sp>
      <p:sp>
        <p:nvSpPr>
          <p:cNvPr id="4" name="Text 2"/>
          <p:cNvSpPr/>
          <p:nvPr>
            <p:ph type="title"/>
          </p:nvPr>
        </p:nvSpPr>
        <p:spPr>
          <a:xfrm>
            <a:off x="812800" y="141729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2EC"/>
                </a:solidFill>
                <a:latin typeface="Space Grotesk" pitchFamily="34" charset="0"/>
                <a:ea typeface="Space Grotesk" pitchFamily="34" charset="-122"/>
                <a:cs typeface="Space Grotesk" pitchFamily="34" charset="-120"/>
              </a:rPr>
              <a:t>Direct decoding curbs error accumulation</a:t>
            </a:r>
            <a:endParaRPr lang="en-US" sz="3600" dirty="0"/>
          </a:p>
        </p:txBody>
      </p:sp>
      <p:sp>
        <p:nvSpPr>
          <p:cNvPr id="5" name="Shape 3"/>
          <p:cNvSpPr/>
          <p:nvPr/>
        </p:nvSpPr>
        <p:spPr>
          <a:xfrm>
            <a:off x="812800" y="2275780"/>
            <a:ext cx="3386634" cy="1828701"/>
          </a:xfrm>
          <a:prstGeom prst="roundRect">
            <a:avLst>
              <a:gd name="adj" fmla="val 5556"/>
            </a:avLst>
          </a:prstGeom>
          <a:solidFill>
            <a:srgbClr val="1F2E4F"/>
          </a:solidFill>
          <a:ln/>
        </p:spPr>
      </p:sp>
      <p:sp>
        <p:nvSpPr>
          <p:cNvPr id="6" name="Text 4"/>
          <p:cNvSpPr/>
          <p:nvPr/>
        </p:nvSpPr>
        <p:spPr>
          <a:xfrm>
            <a:off x="1066800" y="2529780"/>
            <a:ext cx="2964993"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2BB3A8"/>
                </a:solidFill>
                <a:latin typeface="Space Grotesk" pitchFamily="34" charset="0"/>
                <a:ea typeface="Space Grotesk" pitchFamily="34" charset="-122"/>
                <a:cs typeface="Space Grotesk" pitchFamily="34" charset="-120"/>
              </a:rPr>
              <a:t>+4% vs +30%</a:t>
            </a:r>
            <a:endParaRPr lang="en-US" sz="2800" dirty="0"/>
          </a:p>
        </p:txBody>
      </p:sp>
      <p:sp>
        <p:nvSpPr>
          <p:cNvPr id="7" name="Text 5"/>
          <p:cNvSpPr/>
          <p:nvPr/>
        </p:nvSpPr>
        <p:spPr>
          <a:xfrm>
            <a:off x="1066800" y="3103811"/>
            <a:ext cx="2964993"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CC6D6"/>
                </a:solidFill>
                <a:latin typeface="IBM Plex Sans" pitchFamily="34" charset="0"/>
                <a:ea typeface="IBM Plex Sans" pitchFamily="34" charset="-122"/>
                <a:cs typeface="IBM Plex Sans" pitchFamily="34" charset="-120"/>
              </a:rPr>
              <a:t>MAE growth from t+1 to t+3, DMH vs autoregressive</a:t>
            </a:r>
            <a:endParaRPr lang="en-US" sz="1400" dirty="0"/>
          </a:p>
        </p:txBody>
      </p:sp>
      <p:sp>
        <p:nvSpPr>
          <p:cNvPr id="8" name="Shape 6"/>
          <p:cNvSpPr/>
          <p:nvPr/>
        </p:nvSpPr>
        <p:spPr>
          <a:xfrm>
            <a:off x="4402634" y="2275780"/>
            <a:ext cx="3386683" cy="1828701"/>
          </a:xfrm>
          <a:prstGeom prst="roundRect">
            <a:avLst>
              <a:gd name="adj" fmla="val 5556"/>
            </a:avLst>
          </a:prstGeom>
          <a:solidFill>
            <a:srgbClr val="1F2E4F"/>
          </a:solidFill>
          <a:ln/>
        </p:spPr>
      </p:sp>
      <p:sp>
        <p:nvSpPr>
          <p:cNvPr id="9" name="Text 7"/>
          <p:cNvSpPr/>
          <p:nvPr/>
        </p:nvSpPr>
        <p:spPr>
          <a:xfrm>
            <a:off x="4656634" y="2529780"/>
            <a:ext cx="2965044"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2BB3A8"/>
                </a:solidFill>
                <a:latin typeface="Space Grotesk" pitchFamily="34" charset="0"/>
                <a:ea typeface="Space Grotesk" pitchFamily="34" charset="-122"/>
                <a:cs typeface="Space Grotesk" pitchFamily="34" charset="-120"/>
              </a:rPr>
              <a:t>94.4% F1</a:t>
            </a:r>
            <a:endParaRPr lang="en-US" sz="2800" dirty="0"/>
          </a:p>
        </p:txBody>
      </p:sp>
      <p:sp>
        <p:nvSpPr>
          <p:cNvPr id="10" name="Text 8"/>
          <p:cNvSpPr/>
          <p:nvPr/>
        </p:nvSpPr>
        <p:spPr>
          <a:xfrm>
            <a:off x="4656634" y="3103811"/>
            <a:ext cx="296504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CC6D6"/>
                </a:solidFill>
                <a:latin typeface="IBM Plex Sans" pitchFamily="34" charset="0"/>
                <a:ea typeface="IBM Plex Sans" pitchFamily="34" charset="-122"/>
                <a:cs typeface="IBM Plex Sans" pitchFamily="34" charset="-120"/>
              </a:rPr>
              <a:t>Best delay detection of all models; persistence still wins raw MAE</a:t>
            </a:r>
            <a:endParaRPr lang="en-US" sz="1400" dirty="0"/>
          </a:p>
        </p:txBody>
      </p:sp>
      <p:sp>
        <p:nvSpPr>
          <p:cNvPr id="11" name="Shape 9"/>
          <p:cNvSpPr/>
          <p:nvPr/>
        </p:nvSpPr>
        <p:spPr>
          <a:xfrm>
            <a:off x="7992517" y="2275780"/>
            <a:ext cx="3386683" cy="1828701"/>
          </a:xfrm>
          <a:prstGeom prst="roundRect">
            <a:avLst>
              <a:gd name="adj" fmla="val 5556"/>
            </a:avLst>
          </a:prstGeom>
          <a:solidFill>
            <a:srgbClr val="1F2E4F"/>
          </a:solidFill>
          <a:ln/>
        </p:spPr>
      </p:sp>
      <p:sp>
        <p:nvSpPr>
          <p:cNvPr id="12" name="Text 10"/>
          <p:cNvSpPr/>
          <p:nvPr/>
        </p:nvSpPr>
        <p:spPr>
          <a:xfrm>
            <a:off x="8246517" y="2529780"/>
            <a:ext cx="2965044"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2BB3A8"/>
                </a:solidFill>
                <a:latin typeface="Space Grotesk" pitchFamily="34" charset="0"/>
                <a:ea typeface="Space Grotesk" pitchFamily="34" charset="-122"/>
                <a:cs typeface="Space Grotesk" pitchFamily="34" charset="-120"/>
              </a:rPr>
              <a:t>Next</a:t>
            </a:r>
            <a:endParaRPr lang="en-US" sz="2800" dirty="0"/>
          </a:p>
        </p:txBody>
      </p:sp>
      <p:sp>
        <p:nvSpPr>
          <p:cNvPr id="13" name="Text 11"/>
          <p:cNvSpPr/>
          <p:nvPr/>
        </p:nvSpPr>
        <p:spPr>
          <a:xfrm>
            <a:off x="8246517" y="3103811"/>
            <a:ext cx="2965044"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CC6D6"/>
                </a:solidFill>
                <a:latin typeface="IBM Plex Sans" pitchFamily="34" charset="0"/>
                <a:ea typeface="IBM Plex Sans" pitchFamily="34" charset="-122"/>
                <a:cs typeface="IBM Plex Sans" pitchFamily="34" charset="-120"/>
              </a:rPr>
              <a:t>Tune the horizon length; test on networks with more sudden disruptions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2BB3A8"/>
          </a:solidFill>
          <a:ln/>
        </p:spPr>
      </p:sp>
      <p:sp>
        <p:nvSpPr>
          <p:cNvPr id="3" name="Text 1"/>
          <p:cNvSpPr/>
          <p:nvPr>
            <p:ph type="title"/>
          </p:nvPr>
        </p:nvSpPr>
        <p:spPr>
          <a:xfrm>
            <a:off x="812800" y="2473970"/>
            <a:ext cx="10883392" cy="1092200"/>
          </a:xfrm>
          <a:prstGeom prst="rect">
            <a:avLst/>
          </a:prstGeom>
          <a:noFill/>
          <a:ln/>
        </p:spPr>
        <p:txBody>
          <a:bodyPr wrap="square" lIns="0" tIns="0" rIns="0" bIns="0" rtlCol="0" anchor="t">
            <a:normAutofit/>
          </a:bodyPr>
          <a:lstStyle/>
          <a:p>
            <a:pPr algn="l" indent="0" marL="0">
              <a:lnSpc>
                <a:spcPts val="8400"/>
              </a:lnSpc>
              <a:buNone/>
            </a:pPr>
            <a:r>
              <a:rPr lang="en-US" sz="8000" b="1" i="0" spc="-150" kern="0" dirty="0">
                <a:solidFill>
                  <a:srgbClr val="F4F2EC"/>
                </a:solidFill>
                <a:latin typeface="Space Grotesk" pitchFamily="34" charset="0"/>
                <a:ea typeface="Space Grotesk" pitchFamily="34" charset="-122"/>
                <a:cs typeface="Space Grotesk" pitchFamily="34" charset="-120"/>
              </a:rPr>
              <a:t>Thank you</a:t>
            </a:r>
            <a:endParaRPr lang="en-US" sz="8000" dirty="0"/>
          </a:p>
        </p:txBody>
      </p:sp>
      <p:sp>
        <p:nvSpPr>
          <p:cNvPr id="4" name="Text 2"/>
          <p:cNvSpPr/>
          <p:nvPr/>
        </p:nvSpPr>
        <p:spPr>
          <a:xfrm>
            <a:off x="812800" y="3743970"/>
            <a:ext cx="10883392" cy="665460"/>
          </a:xfrm>
          <a:prstGeom prst="rect">
            <a:avLst/>
          </a:prstGeom>
          <a:noFill/>
          <a:ln/>
        </p:spPr>
        <p:txBody>
          <a:bodyPr wrap="square" lIns="0" tIns="0" rIns="0" bIns="0" rtlCol="0" anchor="t">
            <a:normAutofit/>
          </a:bodyPr>
          <a:lstStyle/>
          <a:p>
            <a:pPr algn="l" indent="0" marL="0">
              <a:lnSpc>
                <a:spcPts val="5040"/>
              </a:lnSpc>
              <a:buNone/>
            </a:pPr>
            <a:r>
              <a:rPr lang="en-US" sz="3600" dirty="0">
                <a:solidFill>
                  <a:srgbClr val="2BB3A8"/>
                </a:solidFill>
                <a:latin typeface="Space Grotesk" pitchFamily="34" charset="0"/>
                <a:ea typeface="Space Grotesk" pitchFamily="34" charset="-122"/>
                <a:cs typeface="Space Grotesk" pitchFamily="34" charset="-120"/>
              </a:rPr>
              <a:t>Questions?</a:t>
            </a:r>
            <a:endParaRPr lang="en-US" sz="3600" dirty="0"/>
          </a:p>
        </p:txBody>
      </p:sp>
      <p:sp>
        <p:nvSpPr>
          <p:cNvPr id="5" name="Text 3"/>
          <p:cNvSpPr/>
          <p:nvPr/>
        </p:nvSpPr>
        <p:spPr>
          <a:xfrm>
            <a:off x="812800" y="5796310"/>
            <a:ext cx="91567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CC6D6"/>
                </a:solidFill>
                <a:latin typeface="IBM Plex Sans" pitchFamily="34" charset="0"/>
                <a:ea typeface="IBM Plex Sans" pitchFamily="34" charset="-122"/>
                <a:cs typeface="IBM Plex Sans" pitchFamily="34" charset="-120"/>
              </a:rPr>
              <a:t>Thinh Duy Do · Halıcıoğlu Data Science Institute, UC San Diego</a:t>
            </a:r>
            <a:endParaRPr lang="en-US" sz="1400" dirty="0"/>
          </a:p>
        </p:txBody>
      </p:sp>
    </p:spTree>
  </p:cSld>
  <p:clrMapOvr>
    <a:masterClrMapping/>
  </p:clrMapOvr>
</p:sld>
</file>

<file path=ppt/theme/theme1.xml><?xml version="1.0" encoding="utf-8"?>
<a:theme xmlns:a="http://schemas.openxmlformats.org/drawingml/2006/main" name="Direct Multi-Horizon GATv2 for Train Delay Prediction">
  <a:themeElements>
    <a:clrScheme name="Direct Multi-Horizon GATv2 for Train Delay Prediction">
      <a:dk1>
        <a:srgbClr val="14213D"/>
      </a:dk1>
      <a:lt1>
        <a:srgbClr val="F7F6F2"/>
      </a:lt1>
      <a:dk2>
        <a:srgbClr val="4D566A"/>
      </a:dk2>
      <a:lt2>
        <a:srgbClr val="E0E1E0"/>
      </a:lt2>
      <a:accent1>
        <a:srgbClr val="0F7C7A"/>
      </a:accent1>
      <a:accent2>
        <a:srgbClr val="2BB3A8"/>
      </a:accent2>
      <a:accent3>
        <a:srgbClr val="B4570C"/>
      </a:accent3>
      <a:accent4>
        <a:srgbClr val="F6E1CF"/>
      </a:accent4>
      <a:accent5>
        <a:srgbClr val="4A5568"/>
      </a:accent5>
      <a:accent6>
        <a:srgbClr val="6A7179"/>
      </a:accent6>
      <a:hlink>
        <a:srgbClr val="0563C1"/>
      </a:hlink>
      <a:folHlink>
        <a:srgbClr val="954F72"/>
      </a:folHlink>
    </a:clrScheme>
    <a:fontScheme name="Direct Multi-Horizon GATv2 for Train Delay Prediction">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Direct Multi-Horizon GATv2 for Train Delay Prediction</dc:title>
  <dc:subject/>
  <dc:creator/>
  <cp:lastModifiedBy/>
  <cp:revision>1</cp:revision>
  <dcterms:created xsi:type="dcterms:W3CDTF">2026-09-30T19:07:44Z</dcterms:created>
  <dcterms:modified xsi:type="dcterms:W3CDTF">2026-09-30T19:07:44Z</dcterms:modified>
</cp:coreProperties>
</file>